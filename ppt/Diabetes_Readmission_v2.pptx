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33"/>
                </a:solidFill>
                <a:latin typeface="+mn-lt"/>
              </a:defRPr>
            </a:pPr>
            <a:r>
              <a:rPr sz="1200" b="0" i="0" u="none" strike="noStrike">
                <a:solidFill>
                  <a:srgbClr val="1B2A33"/>
                </a:solidFill>
                <a:latin typeface="+mn-lt"/>
              </a:rPr>
              <a:t>30-day readmission rate by risk signal (prior 12 months)</a:t>
            </a:r>
          </a:p>
        </c:rich>
      </c:tx>
      <c:layout/>
      <c:overlay val="0"/>
    </c:title>
    <c:autoTitleDeleted val="0"/>
    <c:plotArea>
      <c:layout/>
      <c:barChart>
        <c:barDir val="bar"/>
        <c:grouping val="clustered"/>
        <c:varyColors val="0"/>
        <c:ser>
          <c:idx val="0"/>
          <c:order val="0"/>
          <c:tx>
            <c:strRef>
              <c:f>Sheet1!$B$1</c:f>
              <c:strCache>
                <c:ptCount val="1"/>
                <c:pt idx="0">
                  <c:v>Rate</c:v>
                </c:pt>
              </c:strCache>
            </c:strRef>
          </c:tx>
          <c:spPr>
            <a:solidFill>
              <a:srgbClr val="C9DCDB"/>
            </a:solidFill>
            <a:effectLst/>
          </c:spPr>
          <c:invertIfNegative val="0"/>
          <c:dLbls>
            <c:numFmt formatCode="0.0&quot;%&quot;"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dPt>
            <c:idx val="0"/>
            <c:invertIfNegative val="0"/>
            <c:bubble3D val="0"/>
            <c:spPr>
              <a:solidFill>
                <a:srgbClr val="C9DCDB"/>
              </a:solidFill>
              <a:effectLst/>
            </c:spPr>
          </c:dPt>
          <c:dPt>
            <c:idx val="1"/>
            <c:invertIfNegative val="0"/>
            <c:bubble3D val="0"/>
            <c:spPr>
              <a:solidFill>
                <a:srgbClr val="C9DCDB"/>
              </a:solidFill>
              <a:effectLst/>
            </c:spPr>
          </c:dPt>
          <c:dPt>
            <c:idx val="2"/>
            <c:invertIfNegative val="0"/>
            <c:bubble3D val="0"/>
            <c:spPr>
              <a:solidFill>
                <a:srgbClr val="8AB8B5"/>
              </a:solidFill>
              <a:effectLst/>
            </c:spPr>
          </c:dPt>
          <c:dPt>
            <c:idx val="3"/>
            <c:invertIfNegative val="0"/>
            <c:bubble3D val="0"/>
            <c:spPr>
              <a:solidFill>
                <a:srgbClr val="0E7C7B"/>
              </a:solidFill>
              <a:effectLst/>
            </c:spPr>
          </c:dPt>
          <c:cat>
            <c:multiLvlStrRef>
              <c:f>Sheet1!$A$2:$A$5</c:f>
              <c:multiLvlStrCache>
                <c:ptCount val="4"/>
                <c:lvl>
                  <c:pt idx="0">
                    <c:v>All eligible discharges</c:v>
                  </c:pt>
                  <c:pt idx="1">
                    <c:v>Hospital stay of 7+ days</c:v>
                  </c:pt>
                  <c:pt idx="2">
                    <c:v>Tier 2: 2+ stays OR 1+ ER visit</c:v>
                  </c:pt>
                  <c:pt idx="3">
                    <c:v>Tier 1: 2+ stays AND 1+ ER visit</c:v>
                  </c:pt>
                </c:lvl>
              </c:multiLvlStrCache>
            </c:multiLvlStrRef>
          </c:cat>
          <c:val>
            <c:numRef>
              <c:f>Sheet1!$B$2:$B$5</c:f>
              <c:numCache>
                <c:formatCode>General</c:formatCode>
                <c:ptCount val="4"/>
                <c:pt idx="0">
                  <c:v>11.4</c:v>
                </c:pt>
                <c:pt idx="1">
                  <c:v>13.6</c:v>
                </c:pt>
                <c:pt idx="2">
                  <c:v>17.2</c:v>
                </c:pt>
                <c:pt idx="3">
                  <c:v>25.8</c:v>
                </c:pt>
              </c:numCache>
            </c:numRef>
          </c:val>
        </c:ser>
        <c:dLbls>
          <c:numFmt formatCode="0.0&quot;%&quot;"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ax val="3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33"/>
                </a:solidFill>
                <a:latin typeface="+mn-lt"/>
              </a:defRPr>
            </a:pPr>
            <a:r>
              <a:rPr sz="1200" b="0" i="0" u="none" strike="noStrike">
                <a:solidFill>
                  <a:srgbClr val="1B2A33"/>
                </a:solidFill>
                <a:latin typeface="+mn-lt"/>
              </a:rPr>
              <a:t>Readmission cut needed to break even</a:t>
            </a:r>
          </a:p>
        </c:rich>
      </c:tx>
      <c:layout/>
      <c:overlay val="0"/>
    </c:title>
    <c:autoTitleDeleted val="0"/>
    <c:plotArea>
      <c:layout/>
      <c:barChart>
        <c:barDir val="col"/>
        <c:grouping val="clustered"/>
        <c:varyColors val="0"/>
        <c:ser>
          <c:idx val="0"/>
          <c:order val="0"/>
          <c:tx>
            <c:strRef>
              <c:f>Sheet1!$B$1</c:f>
              <c:strCache>
                <c:ptCount val="1"/>
                <c:pt idx="0">
                  <c:v>Break-even</c:v>
                </c:pt>
              </c:strCache>
            </c:strRef>
          </c:tx>
          <c:spPr>
            <a:solidFill>
              <a:srgbClr val="C9DCDB"/>
            </a:solidFill>
            <a:effectLst/>
          </c:spPr>
          <c:invertIfNegative val="0"/>
          <c:dLbls>
            <c:numFmt formatCode="0&quot;%&quot;"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dPt>
            <c:idx val="0"/>
            <c:invertIfNegative val="0"/>
            <c:bubble3D val="0"/>
            <c:spPr>
              <a:solidFill>
                <a:srgbClr val="C9DCDB"/>
              </a:solidFill>
              <a:effectLst/>
            </c:spPr>
          </c:dPt>
          <c:dPt>
            <c:idx val="1"/>
            <c:invertIfNegative val="0"/>
            <c:bubble3D val="0"/>
            <c:spPr>
              <a:solidFill>
                <a:srgbClr val="0E7C7B"/>
              </a:solidFill>
              <a:effectLst/>
            </c:spPr>
          </c:dPt>
          <c:dPt>
            <c:idx val="2"/>
            <c:invertIfNegative val="0"/>
            <c:bubble3D val="0"/>
            <c:spPr>
              <a:solidFill>
                <a:srgbClr val="8AB8B5"/>
              </a:solidFill>
              <a:effectLst/>
            </c:spPr>
          </c:dPt>
          <c:cat>
            <c:multiLvlStrRef>
              <c:f>Sheet1!$A$2:$A$4</c:f>
              <c:multiLvlStrCache>
                <c:ptCount val="3"/>
                <c:lvl>
                  <c:pt idx="0">
                    <c:v>Everyone</c:v>
                  </c:pt>
                  <c:pt idx="1">
                    <c:v>Flagged (Tier 1+2)</c:v>
                  </c:pt>
                  <c:pt idx="2">
                    <c:v>Tier 1 only</c:v>
                  </c:pt>
                </c:lvl>
              </c:multiLvlStrCache>
            </c:multiLvlStrRef>
          </c:cat>
          <c:val>
            <c:numRef>
              <c:f>Sheet1!$B$2:$B$4</c:f>
              <c:numCache>
                <c:formatCode>General</c:formatCode>
                <c:ptCount val="3"/>
                <c:pt idx="0">
                  <c:v>23</c:v>
                </c:pt>
                <c:pt idx="1">
                  <c:v>14</c:v>
                </c:pt>
                <c:pt idx="2">
                  <c:v>10</c:v>
                </c:pt>
              </c:numCache>
            </c:numRef>
          </c:val>
        </c:ser>
        <c:dLbls>
          <c:numFmt formatCode="0&quot;%&quot;"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6350" cap="flat">
              <a:solidFill>
                <a:srgbClr val="E3E8EA"/>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Our recommendation: do not build AI yet.
The FinOps problem: 11.4 percent of diabetic discharges come back within 30 days, about one patient in nine. On fixed-payment and risk-based contracts, the hospital carries the cost of each of those stays without being paid for it. So this is cost leakage, and it is also harm to patients.
The key message is at the bottom of the slide: our goal is not to predict readmission. It is to prevent avoidable readmission at an acceptable cost.
So we propose three things.
One: a simple rule. Flag any diabetic patient with two or more hospital stays, or at least one ER visit, in the past year. That is one discharge in five. They get a nurse-led discharge and follow-up bundle.
Two: prove it works. A 90-day pilot against a comparison group. To pay back, it must cut readmissions in the flagged group by at least 14 percent.
Three: defer machine learning. We tested it, and it adds only about three points over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First, the baseline. I counted discharges, because that is where the intervention happens. I removed about 2,400 discharges where the patient died or went to hospice, since they cannot be readmitted. That leaves 99,343 eligible discharges and a baseline of 11.4 percent.
Where is the risk concentrated? Not in age. Across adult age bands the rate only moves between 10 and 13 percent. It is concentrated in prior use of the hospital and the ER.
Tier 1, patients with two or more stays and at least one ER visit, readmit at almost 26 percent. Tier 2, either signal alone, readmit at 17 percent.
Together they are one discharge in five, but over a third of all readmissions. That is our target group.
That gives us our hypothesis, on the right: if flagged patients get a nurse-led discharge bundle, their readmission rate falls from 18.7 to 16.1 percent or lower, because repeat users have the most avoidable gaps after discharge.
One caution: these are associations from historical data. They tell us who to call. They do not prove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The dataset has no cost data, so every dollar here is an assumption, and I label it that way. I use 15,200 dollars per readmission, the 2018 US average from AHRQ, and 400 dollars per patient for the follow-up bundle.
For every 1,000 flagged discharges we expect 187 readmissions. The bundle costs 400 thousand dollars. To pay that back we must prevent about 26 readmissions, a 14 percent cut.
The chart shows why targeting matters. If we gave the bundle to everyone, we would need a 23 percent cut. Flagging the top group lowers the bar to 14 percent, and Tier 1 alone to 10.
At a 10 percent cut we lose money. At 15 percent we roughly break even. At 25 percent we gain about 312 thousand. The margin is thin, which is why we pilot first.
For patients, a 15 percent cut means 28 fewer people back in hospital within a month, for every 1,000 we flag.
The point in red is the FinOps decision: we keep the savings on fixed-payment and risk contracts. Under fee-for-service the payer keeps them. So the pilot should start where our contracts let us capture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The intervention is the workflow, not the model.
At admission we capture prior hospital stays and ER visits. The EHR applies the Tier 1 and Tier 2 rule. Flagged patients get a medication review and diabetes education before discharge, a nurse call within 72 hours, and a clinic visit within 7 days. Then we measure 30-day readmissions and cost.
On the ladder, we start at process and rules. It runs in weeks, clinicians can see why a patient was flagged, and there is no model to maintain.
Does AI add value? I tested it rather than assumed it. A gradient-boosting model against the rule, on 30 percent of patients the model never saw, flagging the same number of people. The model's hit rate is 22 percent against 19 for the rule. That is real but small: about 64 thousand dollars per 1,000 flagged, and only if the bundle works. So ML is the next rung, earned after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Finally, what we know and what we don't. The data shows patterns and risk groups. It cannot show cost, revenue, or whether a readmission was preventable.
So, three gates in 90 days.
One, baseline: re-run the numbers on our own recent data, including readmissions to other hospitals, which this dataset misses.
Two, economics: finance confirms the cost of a readmission, the cost of the bundle, and which contracts let us keep the savings. While analysing the data I found a second issue: the payer field is blank on almost 40 percent of discharges. That may be how the dataset was extracted. If it is real, it means bills at risk of being denied, so finance should check it too.
Three, impact: pilot the bundle against a matched comparison group.
The claim ledger keeps us honest: facts from the data, assumptions about money, hypotheses about the effect.
The decision gate: a 14 percent cut and we capture the value, we scale the rule and then test ML. Otherwise we stop.
To close: the business problem is 30-day readmission of diabetic patients. The data is enough to find who is at risk, but not to prove cost or preventability. So I recommend starting with rules, validating the value, and adding machine learning only if it beats the simpler solution.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400800" cy="274320"/>
          </a:xfrm>
          <a:prstGeom prst="rect">
            <a:avLst/>
          </a:prstGeom>
          <a:noFill/>
          <a:ln/>
        </p:spPr>
        <p:txBody>
          <a:bodyPr wrap="square" rtlCol="0"/>
          <a:lstStyle>
            <a:lvl1pPr indent="0" marL="0">
              <a:buNone/>
              <a:defRPr lang="en-US" sz="1100" b="1" spc="1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457200" y="502920"/>
            <a:ext cx="8229600" cy="685800"/>
          </a:xfrm>
          <a:prstGeom prst="rect">
            <a:avLst/>
          </a:prstGeom>
          <a:noFill/>
          <a:ln/>
        </p:spPr>
        <p:txBody>
          <a:bodyPr wrap="square" rtlCol="0"/>
          <a:lstStyle>
            <a:lvl1pPr algn="l" indent="0" marL="0">
              <a:buNone/>
              <a:defRPr lang="en-US" sz="2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4" name="Text 0"/>
          <p:cNvSpPr/>
          <p:nvPr/>
        </p:nvSpPr>
        <p:spPr>
          <a:xfrm>
            <a:off x="457200" y="4828032"/>
            <a:ext cx="7680960" cy="228600"/>
          </a:xfrm>
          <a:prstGeom prst="rect">
            <a:avLst/>
          </a:prstGeom>
          <a:noFill/>
          <a:ln/>
        </p:spPr>
        <p:txBody>
          <a:bodyPr wrap="square" lIns="0" tIns="0" rIns="0" bIns="0" rtlCol="0" anchor="ctr"/>
          <a:lstStyle/>
          <a:p>
            <a:pPr indent="0" marL="0">
              <a:buNone/>
            </a:pPr>
            <a:r>
              <a:rPr lang="en-US" sz="900" dirty="0">
                <a:solidFill>
                  <a:schemeClr val="accent5"/>
                </a:solidFill>
              </a:rPr>
              <a:t>Source: UCI Diabetes 130-US Hospitals, 1999–2008; 99,343 eligible discharges (deaths and hospice excluded). Every number reproducible via analysis.py</a:t>
            </a:r>
            <a:endParaRPr lang="en-US" sz="9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400800" cy="274320"/>
          </a:xfrm>
          <a:prstGeom prst="rect">
            <a:avLst/>
          </a:prstGeom>
          <a:noFill/>
          <a:ln/>
        </p:spPr>
        <p:txBody>
          <a:bodyPr wrap="square" lIns="0" tIns="0" rIns="0" bIns="0" rtlCol="0"/>
          <a:lstStyle/>
          <a:p>
            <a:pPr indent="0" marL="0">
              <a:buNone/>
            </a:pPr>
            <a:r>
              <a:rPr lang="en-US" sz="1100" b="1" spc="100" kern="0" dirty="0">
                <a:solidFill>
                  <a:schemeClr val="accent1"/>
                </a:solidFill>
              </a:rPr>
              <a:t>1 · RECOMMENDATION</a:t>
            </a:r>
            <a:endParaRPr lang="en-US" sz="1100" dirty="0"/>
          </a:p>
        </p:txBody>
      </p:sp>
      <p:sp>
        <p:nvSpPr>
          <p:cNvPr id="3" name="Text 0"/>
          <p:cNvSpPr/>
          <p:nvPr>
            <p:ph idx="101" type="title" hasCustomPrompt="1"/>
          </p:nvPr>
        </p:nvSpPr>
        <p:spPr>
          <a:xfrm>
            <a:off x="457200" y="502920"/>
            <a:ext cx="8229600" cy="68580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Readmissions are cost we carry unpaid: pilot a rules-based fix before any AI</a:t>
            </a:r>
            <a:endParaRPr lang="en-US" sz="2400" dirty="0"/>
          </a:p>
        </p:txBody>
      </p:sp>
      <p:sp>
        <p:nvSpPr>
          <p:cNvPr id="4" name="Shape 2"/>
          <p:cNvSpPr/>
          <p:nvPr/>
        </p:nvSpPr>
        <p:spPr>
          <a:xfrm>
            <a:off x="457200" y="1371600"/>
            <a:ext cx="2514600" cy="2606040"/>
          </a:xfrm>
          <a:prstGeom prst="roundRect">
            <a:avLst>
              <a:gd name="adj" fmla="val 2909"/>
            </a:avLst>
          </a:prstGeom>
          <a:solidFill>
            <a:srgbClr val="0E4D57"/>
          </a:solidFill>
          <a:ln w="12700">
            <a:solidFill>
              <a:srgbClr val="0E4D57"/>
            </a:solidFill>
            <a:prstDash val="solid"/>
          </a:ln>
        </p:spPr>
      </p:sp>
      <p:sp>
        <p:nvSpPr>
          <p:cNvPr id="5" name="Text 3"/>
          <p:cNvSpPr txBox="1"/>
          <p:nvPr/>
        </p:nvSpPr>
        <p:spPr>
          <a:xfrm>
            <a:off x="658368" y="1536192"/>
            <a:ext cx="2103120" cy="256032"/>
          </a:xfrm>
          <a:prstGeom prst="rect">
            <a:avLst/>
          </a:prstGeom>
          <a:noFill/>
          <a:ln/>
        </p:spPr>
        <p:txBody>
          <a:bodyPr wrap="square" lIns="0" tIns="0" rIns="0" bIns="0" rtlCol="0" anchor="ctr"/>
          <a:lstStyle/>
          <a:p>
            <a:pPr indent="0" marL="0">
              <a:buNone/>
            </a:pPr>
            <a:r>
              <a:rPr lang="en-US" sz="1100" b="1" dirty="0">
                <a:solidFill>
                  <a:schemeClr val="accent6"/>
                </a:solidFill>
                <a:latin typeface="Calibri" pitchFamily="34" charset="0"/>
                <a:ea typeface="Calibri" pitchFamily="34" charset="-122"/>
                <a:cs typeface="Calibri" pitchFamily="34" charset="-120"/>
              </a:rPr>
              <a:t>THE FINOPS PROBLEM</a:t>
            </a:r>
            <a:endParaRPr lang="en-US" sz="1100" dirty="0"/>
          </a:p>
        </p:txBody>
      </p:sp>
      <p:sp>
        <p:nvSpPr>
          <p:cNvPr id="6" name="Text 4"/>
          <p:cNvSpPr txBox="1"/>
          <p:nvPr/>
        </p:nvSpPr>
        <p:spPr>
          <a:xfrm>
            <a:off x="658368" y="1810512"/>
            <a:ext cx="2103120" cy="68580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11.4%</a:t>
            </a:r>
            <a:endParaRPr lang="en-US" sz="4400" dirty="0"/>
          </a:p>
        </p:txBody>
      </p:sp>
      <p:sp>
        <p:nvSpPr>
          <p:cNvPr id="7" name="Text 5"/>
          <p:cNvSpPr txBox="1"/>
          <p:nvPr/>
        </p:nvSpPr>
        <p:spPr>
          <a:xfrm>
            <a:off x="658368" y="2468880"/>
            <a:ext cx="2148840" cy="1097280"/>
          </a:xfrm>
          <a:prstGeom prst="rect">
            <a:avLst/>
          </a:prstGeom>
          <a:noFill/>
          <a:ln/>
        </p:spPr>
        <p:txBody>
          <a:bodyPr wrap="square" lIns="0" tIns="0" rIns="0" bIns="0" rtlCol="0" anchor="t"/>
          <a:lstStyle/>
          <a:p>
            <a:pPr indent="0" marL="0">
              <a:buNone/>
            </a:pPr>
            <a:r>
              <a:rPr lang="en-US" sz="1250" dirty="0">
                <a:solidFill>
                  <a:schemeClr val="bg1"/>
                </a:solidFill>
                <a:latin typeface="Calibri" pitchFamily="34" charset="0"/>
                <a:ea typeface="Calibri" pitchFamily="34" charset="-122"/>
                <a:cs typeface="Calibri" pitchFamily="34" charset="-120"/>
              </a:rPr>
              <a:t>of diabetic discharges come back within 30 days. On fixed-payment and risk contracts, we pay for each one</a:t>
            </a:r>
            <a:endParaRPr lang="en-US" sz="1250" dirty="0"/>
          </a:p>
        </p:txBody>
      </p:sp>
      <p:sp>
        <p:nvSpPr>
          <p:cNvPr id="8" name="Shape 6"/>
          <p:cNvSpPr/>
          <p:nvPr/>
        </p:nvSpPr>
        <p:spPr>
          <a:xfrm>
            <a:off x="3154680" y="1371600"/>
            <a:ext cx="5532120" cy="795528"/>
          </a:xfrm>
          <a:prstGeom prst="roundRect">
            <a:avLst>
              <a:gd name="adj" fmla="val 9195"/>
            </a:avLst>
          </a:prstGeom>
          <a:solidFill>
            <a:srgbClr val="EEF4F4"/>
          </a:solidFill>
          <a:ln w="12700">
            <a:solidFill>
              <a:srgbClr val="EEF4F4"/>
            </a:solidFill>
            <a:prstDash val="solid"/>
          </a:ln>
        </p:spPr>
      </p:sp>
      <p:sp>
        <p:nvSpPr>
          <p:cNvPr id="9" name="Shape 7"/>
          <p:cNvSpPr/>
          <p:nvPr/>
        </p:nvSpPr>
        <p:spPr>
          <a:xfrm>
            <a:off x="3310128" y="1572768"/>
            <a:ext cx="384048" cy="384048"/>
          </a:xfrm>
          <a:prstGeom prst="ellipse">
            <a:avLst/>
          </a:prstGeom>
          <a:solidFill>
            <a:srgbClr val="0E7C7B"/>
          </a:solidFill>
          <a:ln w="12700">
            <a:solidFill>
              <a:srgbClr val="0E7C7B"/>
            </a:solidFill>
            <a:prstDash val="solid"/>
          </a:ln>
        </p:spPr>
      </p:sp>
      <p:sp>
        <p:nvSpPr>
          <p:cNvPr id="10" name="Text 8"/>
          <p:cNvSpPr txBox="1"/>
          <p:nvPr/>
        </p:nvSpPr>
        <p:spPr>
          <a:xfrm>
            <a:off x="3310128" y="15727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3858768" y="1444752"/>
            <a:ext cx="4663440" cy="237744"/>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DO NOW</a:t>
            </a:r>
            <a:endParaRPr lang="en-US" sz="1200" dirty="0"/>
          </a:p>
        </p:txBody>
      </p:sp>
      <p:sp>
        <p:nvSpPr>
          <p:cNvPr id="12" name="Text 10"/>
          <p:cNvSpPr txBox="1"/>
          <p:nvPr/>
        </p:nvSpPr>
        <p:spPr>
          <a:xfrm>
            <a:off x="3858768" y="1682496"/>
            <a:ext cx="4709160" cy="438912"/>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Flag patients with 2+ hospital stays or 1+ ER visit in the past year. Give them a nurse-led discharge and follow-up bundle.</a:t>
            </a:r>
            <a:endParaRPr lang="en-US" sz="1150" dirty="0"/>
          </a:p>
        </p:txBody>
      </p:sp>
      <p:sp>
        <p:nvSpPr>
          <p:cNvPr id="13" name="Shape 11"/>
          <p:cNvSpPr/>
          <p:nvPr/>
        </p:nvSpPr>
        <p:spPr>
          <a:xfrm>
            <a:off x="3154680" y="2267712"/>
            <a:ext cx="5532120" cy="795528"/>
          </a:xfrm>
          <a:prstGeom prst="roundRect">
            <a:avLst>
              <a:gd name="adj" fmla="val 9195"/>
            </a:avLst>
          </a:prstGeom>
          <a:solidFill>
            <a:srgbClr val="EEF4F4"/>
          </a:solidFill>
          <a:ln w="12700">
            <a:solidFill>
              <a:srgbClr val="EEF4F4"/>
            </a:solidFill>
            <a:prstDash val="solid"/>
          </a:ln>
        </p:spPr>
      </p:sp>
      <p:sp>
        <p:nvSpPr>
          <p:cNvPr id="14" name="Shape 12"/>
          <p:cNvSpPr/>
          <p:nvPr/>
        </p:nvSpPr>
        <p:spPr>
          <a:xfrm>
            <a:off x="3310128" y="2468880"/>
            <a:ext cx="384048" cy="384048"/>
          </a:xfrm>
          <a:prstGeom prst="ellipse">
            <a:avLst/>
          </a:prstGeom>
          <a:solidFill>
            <a:srgbClr val="B7791F"/>
          </a:solidFill>
          <a:ln w="12700">
            <a:solidFill>
              <a:srgbClr val="B7791F"/>
            </a:solidFill>
            <a:prstDash val="solid"/>
          </a:ln>
        </p:spPr>
      </p:sp>
      <p:sp>
        <p:nvSpPr>
          <p:cNvPr id="15" name="Text 13"/>
          <p:cNvSpPr txBox="1"/>
          <p:nvPr/>
        </p:nvSpPr>
        <p:spPr>
          <a:xfrm>
            <a:off x="3310128" y="24688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3858768" y="2340864"/>
            <a:ext cx="4663440" cy="237744"/>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PROVE FIRST</a:t>
            </a:r>
            <a:endParaRPr lang="en-US" sz="1200" dirty="0"/>
          </a:p>
        </p:txBody>
      </p:sp>
      <p:sp>
        <p:nvSpPr>
          <p:cNvPr id="17" name="Text 15"/>
          <p:cNvSpPr txBox="1"/>
          <p:nvPr/>
        </p:nvSpPr>
        <p:spPr>
          <a:xfrm>
            <a:off x="3858768" y="2578608"/>
            <a:ext cx="4709160" cy="438912"/>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90-day pilot against a comparison group. It must cut readmissions in the flagged group by at least 14% to pay back.</a:t>
            </a:r>
            <a:endParaRPr lang="en-US" sz="1150" dirty="0"/>
          </a:p>
        </p:txBody>
      </p:sp>
      <p:sp>
        <p:nvSpPr>
          <p:cNvPr id="18" name="Shape 16"/>
          <p:cNvSpPr/>
          <p:nvPr/>
        </p:nvSpPr>
        <p:spPr>
          <a:xfrm>
            <a:off x="3154680" y="3163824"/>
            <a:ext cx="5532120" cy="795528"/>
          </a:xfrm>
          <a:prstGeom prst="roundRect">
            <a:avLst>
              <a:gd name="adj" fmla="val 9195"/>
            </a:avLst>
          </a:prstGeom>
          <a:solidFill>
            <a:srgbClr val="EEF4F4"/>
          </a:solidFill>
          <a:ln w="12700">
            <a:solidFill>
              <a:srgbClr val="EEF4F4"/>
            </a:solidFill>
            <a:prstDash val="solid"/>
          </a:ln>
        </p:spPr>
      </p:sp>
      <p:sp>
        <p:nvSpPr>
          <p:cNvPr id="19" name="Shape 17"/>
          <p:cNvSpPr/>
          <p:nvPr/>
        </p:nvSpPr>
        <p:spPr>
          <a:xfrm>
            <a:off x="3310128" y="3364992"/>
            <a:ext cx="384048" cy="384048"/>
          </a:xfrm>
          <a:prstGeom prst="ellipse">
            <a:avLst/>
          </a:prstGeom>
          <a:solidFill>
            <a:srgbClr val="D2492A"/>
          </a:solidFill>
          <a:ln w="12700">
            <a:solidFill>
              <a:srgbClr val="D2492A"/>
            </a:solidFill>
            <a:prstDash val="solid"/>
          </a:ln>
        </p:spPr>
      </p:sp>
      <p:sp>
        <p:nvSpPr>
          <p:cNvPr id="20" name="Text 18"/>
          <p:cNvSpPr txBox="1"/>
          <p:nvPr/>
        </p:nvSpPr>
        <p:spPr>
          <a:xfrm>
            <a:off x="3310128" y="336499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3858768" y="3236976"/>
            <a:ext cx="4663440" cy="237744"/>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DEFER</a:t>
            </a:r>
            <a:endParaRPr lang="en-US" sz="1200" dirty="0"/>
          </a:p>
        </p:txBody>
      </p:sp>
      <p:sp>
        <p:nvSpPr>
          <p:cNvPr id="22" name="Text 20"/>
          <p:cNvSpPr txBox="1"/>
          <p:nvPr/>
        </p:nvSpPr>
        <p:spPr>
          <a:xfrm>
            <a:off x="3858768" y="3474720"/>
            <a:ext cx="4709160" cy="438912"/>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Machine learning. On this data it finds only ~3 points more at-risk patients than the rule.</a:t>
            </a:r>
            <a:endParaRPr lang="en-US" sz="1150" dirty="0"/>
          </a:p>
        </p:txBody>
      </p:sp>
      <p:sp>
        <p:nvSpPr>
          <p:cNvPr id="23" name="Shape 21"/>
          <p:cNvSpPr/>
          <p:nvPr/>
        </p:nvSpPr>
        <p:spPr>
          <a:xfrm>
            <a:off x="457200" y="4114800"/>
            <a:ext cx="8229600" cy="566928"/>
          </a:xfrm>
          <a:prstGeom prst="roundRect">
            <a:avLst>
              <a:gd name="adj" fmla="val 12903"/>
            </a:avLst>
          </a:prstGeom>
          <a:solidFill>
            <a:srgbClr val="FFFFFF"/>
          </a:solidFill>
          <a:ln w="12700">
            <a:solidFill>
              <a:srgbClr val="FFFFFF"/>
            </a:solidFill>
            <a:prstDash val="solid"/>
          </a:ln>
        </p:spPr>
      </p:sp>
      <p:sp>
        <p:nvSpPr>
          <p:cNvPr id="24" name="Shape 22"/>
          <p:cNvSpPr/>
          <p:nvPr/>
        </p:nvSpPr>
        <p:spPr>
          <a:xfrm>
            <a:off x="457200" y="4114800"/>
            <a:ext cx="8229600" cy="566928"/>
          </a:xfrm>
          <a:prstGeom prst="roundRect">
            <a:avLst>
              <a:gd name="adj" fmla="val 12903"/>
            </a:avLst>
          </a:prstGeom>
          <a:solidFill>
            <a:srgbClr val="FFFFFF"/>
          </a:solidFill>
          <a:ln w="12700">
            <a:solidFill>
              <a:srgbClr val="8AB8B5"/>
            </a:solidFill>
            <a:prstDash val="solid"/>
          </a:ln>
        </p:spPr>
      </p:sp>
      <p:sp>
        <p:nvSpPr>
          <p:cNvPr id="25" name="Text 23"/>
          <p:cNvSpPr txBox="1"/>
          <p:nvPr/>
        </p:nvSpPr>
        <p:spPr>
          <a:xfrm>
            <a:off x="640080" y="4114800"/>
            <a:ext cx="7863840" cy="566928"/>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Key message: </a:t>
            </a:r>
            <a:pPr indent="0" marL="0">
              <a:buNone/>
            </a:pPr>
            <a:r>
              <a:rPr lang="en-US" sz="1300" i="1" dirty="0">
                <a:solidFill>
                  <a:schemeClr val="tx1"/>
                </a:solidFill>
                <a:latin typeface="Calibri" pitchFamily="34" charset="0"/>
                <a:ea typeface="Calibri" pitchFamily="34" charset="-122"/>
                <a:cs typeface="Calibri" pitchFamily="34" charset="-120"/>
              </a:rPr>
              <a:t>the goal is not to predict readmission. It is to prevent avoidable readmission at an acceptable cost.</a:t>
            </a:r>
            <a:endParaRPr lang="en-US" sz="13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400800" cy="274320"/>
          </a:xfrm>
          <a:prstGeom prst="rect">
            <a:avLst/>
          </a:prstGeom>
          <a:noFill/>
          <a:ln/>
        </p:spPr>
        <p:txBody>
          <a:bodyPr wrap="square" lIns="0" tIns="0" rIns="0" bIns="0" rtlCol="0"/>
          <a:lstStyle/>
          <a:p>
            <a:pPr indent="0" marL="0">
              <a:buNone/>
            </a:pPr>
            <a:r>
              <a:rPr lang="en-US" sz="1100" b="1" spc="100" kern="0" dirty="0">
                <a:solidFill>
                  <a:schemeClr val="accent1"/>
                </a:solidFill>
              </a:rPr>
              <a:t>2 · EVIDENCE</a:t>
            </a:r>
            <a:endParaRPr lang="en-US" sz="1100" dirty="0"/>
          </a:p>
        </p:txBody>
      </p:sp>
      <p:sp>
        <p:nvSpPr>
          <p:cNvPr id="3" name="Text 0"/>
          <p:cNvSpPr/>
          <p:nvPr>
            <p:ph idx="101" type="title" hasCustomPrompt="1"/>
          </p:nvPr>
        </p:nvSpPr>
        <p:spPr>
          <a:xfrm>
            <a:off x="457200" y="502920"/>
            <a:ext cx="8229600" cy="68580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Risk concentrates in prior hospital and ER use, not in age</a:t>
            </a:r>
            <a:endParaRPr lang="en-US" sz="2400" dirty="0"/>
          </a:p>
        </p:txBody>
      </p:sp>
      <p:graphicFrame>
        <p:nvGraphicFramePr>
          <p:cNvPr id="4" name="Chart 0" descr=""/>
          <p:cNvGraphicFramePr/>
          <p:nvPr/>
        </p:nvGraphicFramePr>
        <p:xfrm>
          <a:off x="365760" y="1280160"/>
          <a:ext cx="484632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40680" y="1371600"/>
          <a:ext cx="3246120" cy="914400"/>
        </p:xfrm>
        <a:graphic>
          <a:graphicData uri="http://schemas.openxmlformats.org/drawingml/2006/table">
            <a:tbl>
              <a:tblPr/>
              <a:tblGrid>
                <a:gridCol w="1234440"/>
                <a:gridCol w="1005840"/>
                <a:gridCol w="1005840"/>
              </a:tblGrid>
              <a:tr h="32918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Group</a:t>
                      </a:r>
                      <a:endParaRPr lang="en-US" sz="11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E4D5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 of discharges</a:t>
                      </a:r>
                      <a:endParaRPr lang="en-US" sz="11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E4D5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 of readmits</a:t>
                      </a:r>
                      <a:endParaRPr lang="en-US" sz="11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solidFill>
                      <a:srgbClr val="0E4D57"/>
                    </a:solidFill>
                  </a:tcPr>
                </a:tc>
              </a:tr>
              <a:tr h="329184">
                <a:tc>
                  <a:txBody>
                    <a:bodyPr/>
                    <a:lstStyle/>
                    <a:p>
                      <a:pPr algn="l" indent="0" marL="0">
                        <a:buNone/>
                      </a:pPr>
                      <a:r>
                        <a:rPr lang="en-US" sz="1100" b="1" dirty="0">
                          <a:solidFill>
                            <a:srgbClr val="1B2A33"/>
                          </a:solidFill>
                          <a:latin typeface="Calibri" pitchFamily="34" charset="0"/>
                          <a:ea typeface="Calibri" pitchFamily="34" charset="-122"/>
                          <a:cs typeface="Calibri" pitchFamily="34" charset="-120"/>
                        </a:rPr>
                        <a:t>Tier 1</a:t>
                      </a:r>
                      <a:endParaRPr lang="en-US" sz="11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100" dirty="0">
                          <a:solidFill>
                            <a:srgbClr val="1B2A33"/>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100" dirty="0">
                          <a:solidFill>
                            <a:srgbClr val="1B2A33"/>
                          </a:solidFill>
                          <a:latin typeface="Calibri" pitchFamily="34" charset="0"/>
                          <a:ea typeface="Calibri" pitchFamily="34" charset="-122"/>
                          <a:cs typeface="Calibri" pitchFamily="34" charset="-120"/>
                        </a:rPr>
                        <a:t>8.6%</a:t>
                      </a:r>
                      <a:endParaRPr lang="en-US" sz="11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r h="329184">
                <a:tc>
                  <a:txBody>
                    <a:bodyPr/>
                    <a:lstStyle/>
                    <a:p>
                      <a:pPr algn="l" indent="0" marL="0">
                        <a:buNone/>
                      </a:pPr>
                      <a:r>
                        <a:rPr lang="en-US" sz="1100" b="1" dirty="0">
                          <a:solidFill>
                            <a:srgbClr val="1B2A33"/>
                          </a:solidFill>
                          <a:latin typeface="Calibri" pitchFamily="34" charset="0"/>
                          <a:ea typeface="Calibri" pitchFamily="34" charset="-122"/>
                          <a:cs typeface="Calibri" pitchFamily="34" charset="-120"/>
                        </a:rPr>
                        <a:t>Tier 2</a:t>
                      </a:r>
                      <a:endParaRPr lang="en-US" sz="11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100" dirty="0">
                          <a:solidFill>
                            <a:srgbClr val="1B2A33"/>
                          </a:solidFill>
                          <a:latin typeface="Calibri" pitchFamily="34" charset="0"/>
                          <a:ea typeface="Calibri" pitchFamily="34" charset="-122"/>
                          <a:cs typeface="Calibri" pitchFamily="34" charset="-120"/>
                        </a:rPr>
                        <a:t>17.8%</a:t>
                      </a:r>
                      <a:endParaRPr lang="en-US" sz="11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100" dirty="0">
                          <a:solidFill>
                            <a:srgbClr val="1B2A33"/>
                          </a:solidFill>
                          <a:latin typeface="Calibri" pitchFamily="34" charset="0"/>
                          <a:ea typeface="Calibri" pitchFamily="34" charset="-122"/>
                          <a:cs typeface="Calibri" pitchFamily="34" charset="-120"/>
                        </a:rPr>
                        <a:t>27.0%</a:t>
                      </a:r>
                      <a:endParaRPr lang="en-US" sz="11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r h="329184">
                <a:tc>
                  <a:txBody>
                    <a:bodyPr/>
                    <a:lstStyle/>
                    <a:p>
                      <a:pPr algn="l" indent="0" marL="0">
                        <a:buNone/>
                      </a:pPr>
                      <a:r>
                        <a:rPr lang="en-US" sz="1100" b="1" dirty="0">
                          <a:solidFill>
                            <a:srgbClr val="0E7C7B"/>
                          </a:solidFill>
                          <a:latin typeface="Calibri" pitchFamily="34" charset="0"/>
                          <a:ea typeface="Calibri" pitchFamily="34" charset="-122"/>
                          <a:cs typeface="Calibri" pitchFamily="34" charset="-120"/>
                        </a:rPr>
                        <a:t>Flagged (1+2)</a:t>
                      </a:r>
                      <a:endParaRPr lang="en-US" sz="11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100" b="1" dirty="0">
                          <a:solidFill>
                            <a:srgbClr val="0E7C7B"/>
                          </a:solidFill>
                          <a:latin typeface="Calibri" pitchFamily="34" charset="0"/>
                          <a:ea typeface="Calibri" pitchFamily="34" charset="-122"/>
                          <a:cs typeface="Calibri" pitchFamily="34" charset="-120"/>
                        </a:rPr>
                        <a:t>21.6%</a:t>
                      </a:r>
                      <a:endParaRPr lang="en-US" sz="11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c>
                  <a:txBody>
                    <a:bodyPr/>
                    <a:lstStyle/>
                    <a:p>
                      <a:pPr algn="ctr" indent="0" marL="0">
                        <a:buNone/>
                      </a:pPr>
                      <a:r>
                        <a:rPr lang="en-US" sz="1100" b="1" dirty="0">
                          <a:solidFill>
                            <a:srgbClr val="0E7C7B"/>
                          </a:solidFill>
                          <a:latin typeface="Calibri" pitchFamily="34" charset="0"/>
                          <a:ea typeface="Calibri" pitchFamily="34" charset="-122"/>
                          <a:cs typeface="Calibri" pitchFamily="34" charset="-120"/>
                        </a:rPr>
                        <a:t>35.5%</a:t>
                      </a:r>
                      <a:endParaRPr lang="en-US" sz="1100" dirty="0">
                        <a:latin typeface="Calibri" charset="0"/>
                        <a:ea typeface="Calibri" charset="0"/>
                        <a:cs typeface="Calibri" charset="0"/>
                      </a:endParaRPr>
                    </a:p>
                  </a:txBody>
                  <a:tcPr marL="45720" marR="45720" marT="45720" marB="45720" anchor="ctr">
                    <a:lnL w="6350" cap="flat" cmpd="sng" algn="ctr">
                      <a:solidFill>
                        <a:srgbClr val="D5DDE0"/>
                      </a:solidFill>
                      <a:prstDash val="solid"/>
                      <a:round/>
                      <a:headEnd type="none" w="med" len="med"/>
                      <a:tailEnd type="none" w="med" len="med"/>
                    </a:lnL>
                    <a:lnR w="6350" cap="flat" cmpd="sng" algn="ctr">
                      <a:solidFill>
                        <a:srgbClr val="D5DDE0"/>
                      </a:solidFill>
                      <a:prstDash val="solid"/>
                      <a:round/>
                      <a:headEnd type="none" w="med" len="med"/>
                      <a:tailEnd type="none" w="med" len="med"/>
                    </a:lnR>
                    <a:lnT w="6350" cap="flat" cmpd="sng" algn="ctr">
                      <a:solidFill>
                        <a:srgbClr val="D5DDE0"/>
                      </a:solidFill>
                      <a:prstDash val="solid"/>
                      <a:round/>
                      <a:headEnd type="none" w="med" len="med"/>
                      <a:tailEnd type="none" w="med" len="med"/>
                    </a:lnT>
                    <a:lnB w="6350" cap="flat" cmpd="sng" algn="ctr">
                      <a:solidFill>
                        <a:srgbClr val="D5DDE0"/>
                      </a:solidFill>
                      <a:prstDash val="solid"/>
                      <a:round/>
                      <a:headEnd type="none" w="med" len="med"/>
                      <a:tailEnd type="none" w="med" len="med"/>
                    </a:lnB>
                  </a:tcPr>
                </a:tc>
              </a:tr>
            </a:tbl>
          </a:graphicData>
        </a:graphic>
      </p:graphicFrame>
      <p:sp>
        <p:nvSpPr>
          <p:cNvPr id="6" name="Shape 2"/>
          <p:cNvSpPr/>
          <p:nvPr/>
        </p:nvSpPr>
        <p:spPr>
          <a:xfrm>
            <a:off x="5440680" y="2743200"/>
            <a:ext cx="3246120" cy="1051560"/>
          </a:xfrm>
          <a:prstGeom prst="roundRect">
            <a:avLst>
              <a:gd name="adj" fmla="val 6957"/>
            </a:avLst>
          </a:prstGeom>
          <a:solidFill>
            <a:srgbClr val="0E4D57"/>
          </a:solidFill>
          <a:ln w="12700">
            <a:solidFill>
              <a:srgbClr val="0E4D57"/>
            </a:solidFill>
            <a:prstDash val="solid"/>
          </a:ln>
        </p:spPr>
      </p:sp>
      <p:sp>
        <p:nvSpPr>
          <p:cNvPr id="7" name="Text 3"/>
          <p:cNvSpPr txBox="1"/>
          <p:nvPr/>
        </p:nvSpPr>
        <p:spPr>
          <a:xfrm>
            <a:off x="5577840" y="2788920"/>
            <a:ext cx="3017520" cy="960120"/>
          </a:xfrm>
          <a:prstGeom prst="rect">
            <a:avLst/>
          </a:prstGeom>
          <a:noFill/>
          <a:ln/>
        </p:spPr>
        <p:txBody>
          <a:bodyPr wrap="square" lIns="0" tIns="0" rIns="0" bIns="0" rtlCol="0" anchor="ctr"/>
          <a:lstStyle/>
          <a:p>
            <a:pPr indent="0" marL="0">
              <a:buNone/>
            </a:pPr>
            <a:r>
              <a:rPr lang="en-US" sz="1050" b="1" dirty="0">
                <a:solidFill>
                  <a:schemeClr val="accent6"/>
                </a:solidFill>
                <a:latin typeface="Calibri" pitchFamily="34" charset="0"/>
                <a:ea typeface="Calibri" pitchFamily="34" charset="-122"/>
                <a:cs typeface="Calibri" pitchFamily="34" charset="-120"/>
              </a:rPr>
              <a:t>HYPOTHESIS  </a:t>
            </a:r>
            <a:pPr indent="0" marL="0">
              <a:buNone/>
            </a:pPr>
            <a:r>
              <a:rPr lang="en-US" sz="1050" dirty="0">
                <a:solidFill>
                  <a:schemeClr val="bg1"/>
                </a:solidFill>
                <a:latin typeface="Calibri" pitchFamily="34" charset="0"/>
                <a:ea typeface="Calibri" pitchFamily="34" charset="-122"/>
                <a:cs typeface="Calibri" pitchFamily="34" charset="-120"/>
              </a:rPr>
              <a:t>If flagged patients get a nurse-led discharge bundle, their 30-day rate falls from 18.7% to 16.1% or lower, because repeat users have the most avoidable gaps after discharge.</a:t>
            </a:r>
            <a:endParaRPr lang="en-US" sz="1050" dirty="0"/>
          </a:p>
        </p:txBody>
      </p:sp>
      <p:sp>
        <p:nvSpPr>
          <p:cNvPr id="8" name="Shape 4"/>
          <p:cNvSpPr/>
          <p:nvPr/>
        </p:nvSpPr>
        <p:spPr>
          <a:xfrm>
            <a:off x="457200" y="3931920"/>
            <a:ext cx="8229600" cy="749808"/>
          </a:xfrm>
          <a:prstGeom prst="roundRect">
            <a:avLst>
              <a:gd name="adj" fmla="val 9756"/>
            </a:avLst>
          </a:prstGeom>
          <a:solidFill>
            <a:srgbClr val="EEF4F4"/>
          </a:solidFill>
          <a:ln w="12700">
            <a:solidFill>
              <a:srgbClr val="EEF4F4"/>
            </a:solidFill>
            <a:prstDash val="solid"/>
          </a:ln>
        </p:spPr>
      </p:sp>
      <p:sp>
        <p:nvSpPr>
          <p:cNvPr id="9" name="Text 5"/>
          <p:cNvSpPr txBox="1"/>
          <p:nvPr/>
        </p:nvSpPr>
        <p:spPr>
          <a:xfrm>
            <a:off x="640080" y="3931920"/>
            <a:ext cx="7863840" cy="749808"/>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Age barely separates risk: </a:t>
            </a:r>
            <a:pPr indent="0" marL="0">
              <a:buNone/>
            </a:pPr>
            <a:r>
              <a:rPr lang="en-US" sz="1200" dirty="0">
                <a:solidFill>
                  <a:schemeClr val="tx1"/>
                </a:solidFill>
                <a:latin typeface="Calibri" pitchFamily="34" charset="0"/>
                <a:ea typeface="Calibri" pitchFamily="34" charset="-122"/>
                <a:cs typeface="Calibri" pitchFamily="34" charset="-120"/>
              </a:rPr>
              <a:t>9.8–12.6% across age bands 40 to 90+.  </a:t>
            </a:r>
            <a:pPr indent="0" marL="0">
              <a:buNone/>
            </a:pPr>
            <a:r>
              <a:rPr lang="en-US" sz="1200" b="1" dirty="0">
                <a:solidFill>
                  <a:schemeClr val="accent2"/>
                </a:solidFill>
                <a:latin typeface="Calibri" pitchFamily="34" charset="0"/>
                <a:ea typeface="Calibri" pitchFamily="34" charset="-122"/>
                <a:cs typeface="Calibri" pitchFamily="34" charset="-120"/>
              </a:rPr>
              <a:t>Caution: </a:t>
            </a:r>
            <a:pPr indent="0" marL="0">
              <a:buNone/>
            </a:pPr>
            <a:r>
              <a:rPr lang="en-US" sz="1200" dirty="0">
                <a:solidFill>
                  <a:schemeClr val="tx1"/>
                </a:solidFill>
                <a:latin typeface="Calibri" pitchFamily="34" charset="0"/>
                <a:ea typeface="Calibri" pitchFamily="34" charset="-122"/>
                <a:cs typeface="Calibri" pitchFamily="34" charset="-120"/>
              </a:rPr>
              <a:t>these are associations from historical data, not proof that prior use causes readmission.</a:t>
            </a:r>
            <a:endParaRPr lang="en-US" sz="12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400800" cy="274320"/>
          </a:xfrm>
          <a:prstGeom prst="rect">
            <a:avLst/>
          </a:prstGeom>
          <a:noFill/>
          <a:ln/>
        </p:spPr>
        <p:txBody>
          <a:bodyPr wrap="square" lIns="0" tIns="0" rIns="0" bIns="0" rtlCol="0"/>
          <a:lstStyle/>
          <a:p>
            <a:pPr indent="0" marL="0">
              <a:buNone/>
            </a:pPr>
            <a:r>
              <a:rPr lang="en-US" sz="1100" b="1" spc="100" kern="0" dirty="0">
                <a:solidFill>
                  <a:schemeClr val="accent1"/>
                </a:solidFill>
              </a:rPr>
              <a:t>3 · BUSINESS VALUE &amp; BREAK-EVEN</a:t>
            </a:r>
            <a:endParaRPr lang="en-US" sz="1100" dirty="0"/>
          </a:p>
        </p:txBody>
      </p:sp>
      <p:sp>
        <p:nvSpPr>
          <p:cNvPr id="3" name="Text 0"/>
          <p:cNvSpPr/>
          <p:nvPr>
            <p:ph idx="101" type="title" hasCustomPrompt="1"/>
          </p:nvPr>
        </p:nvSpPr>
        <p:spPr>
          <a:xfrm>
            <a:off x="457200" y="502920"/>
            <a:ext cx="8229600" cy="68580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Targeting lowers break-even to a 14% cut and spares 28 patients per 1,000</a:t>
            </a:r>
            <a:endParaRPr lang="en-US" sz="2400" dirty="0"/>
          </a:p>
        </p:txBody>
      </p:sp>
      <p:graphicFrame>
        <p:nvGraphicFramePr>
          <p:cNvPr id="4" name="Chart 0" descr=""/>
          <p:cNvGraphicFramePr/>
          <p:nvPr/>
        </p:nvGraphicFramePr>
        <p:xfrm>
          <a:off x="365760" y="1280160"/>
          <a:ext cx="4297680" cy="3429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892040" y="1325880"/>
            <a:ext cx="3794760" cy="1691640"/>
          </a:xfrm>
          <a:prstGeom prst="roundRect">
            <a:avLst>
              <a:gd name="adj" fmla="val 4324"/>
            </a:avLst>
          </a:prstGeom>
          <a:solidFill>
            <a:srgbClr val="0E4D57"/>
          </a:solidFill>
          <a:ln w="12700">
            <a:solidFill>
              <a:srgbClr val="0E4D57"/>
            </a:solidFill>
            <a:prstDash val="solid"/>
          </a:ln>
        </p:spPr>
      </p:sp>
      <p:sp>
        <p:nvSpPr>
          <p:cNvPr id="6" name="Text 3"/>
          <p:cNvSpPr txBox="1"/>
          <p:nvPr/>
        </p:nvSpPr>
        <p:spPr>
          <a:xfrm>
            <a:off x="5074920" y="1417320"/>
            <a:ext cx="3474720" cy="256032"/>
          </a:xfrm>
          <a:prstGeom prst="rect">
            <a:avLst/>
          </a:prstGeom>
          <a:noFill/>
          <a:ln/>
        </p:spPr>
        <p:txBody>
          <a:bodyPr wrap="square" lIns="0" tIns="0" rIns="0" bIns="0" rtlCol="0" anchor="ctr"/>
          <a:lstStyle/>
          <a:p>
            <a:pPr indent="0" marL="0">
              <a:buNone/>
            </a:pPr>
            <a:r>
              <a:rPr lang="en-US" sz="1050" b="1" dirty="0">
                <a:solidFill>
                  <a:schemeClr val="accent6"/>
                </a:solidFill>
                <a:latin typeface="Calibri" pitchFamily="34" charset="0"/>
                <a:ea typeface="Calibri" pitchFamily="34" charset="-122"/>
                <a:cs typeface="Calibri" pitchFamily="34" charset="-120"/>
              </a:rPr>
              <a:t>NET VALUE PER 1,000 FLAGGED DISCHARGES</a:t>
            </a:r>
            <a:endParaRPr lang="en-US" sz="1050" dirty="0"/>
          </a:p>
        </p:txBody>
      </p:sp>
      <p:sp>
        <p:nvSpPr>
          <p:cNvPr id="7" name="Text 4"/>
          <p:cNvSpPr txBox="1"/>
          <p:nvPr/>
        </p:nvSpPr>
        <p:spPr>
          <a:xfrm>
            <a:off x="5074920" y="1737360"/>
            <a:ext cx="1143000" cy="457200"/>
          </a:xfrm>
          <a:prstGeom prst="rect">
            <a:avLst/>
          </a:prstGeom>
          <a:noFill/>
          <a:ln/>
        </p:spPr>
        <p:txBody>
          <a:bodyPr wrap="square" lIns="0" tIns="0" rIns="0" bIns="0" rtlCol="0" anchor="ctr"/>
          <a:lstStyle/>
          <a:p>
            <a:pPr indent="0" marL="0">
              <a:buNone/>
            </a:pPr>
            <a:r>
              <a:rPr lang="en-US" sz="2100" b="1" dirty="0">
                <a:solidFill>
                  <a:srgbClr val="F2A08C"/>
                </a:solidFill>
                <a:latin typeface="Cambria" pitchFamily="34" charset="0"/>
                <a:ea typeface="Cambria" pitchFamily="34" charset="-122"/>
                <a:cs typeface="Cambria" pitchFamily="34" charset="-120"/>
              </a:rPr>
              <a:t>–$115k</a:t>
            </a:r>
            <a:endParaRPr lang="en-US" sz="2100" dirty="0"/>
          </a:p>
        </p:txBody>
      </p:sp>
      <p:sp>
        <p:nvSpPr>
          <p:cNvPr id="8" name="Text 5"/>
          <p:cNvSpPr txBox="1"/>
          <p:nvPr/>
        </p:nvSpPr>
        <p:spPr>
          <a:xfrm>
            <a:off x="5074920" y="2194560"/>
            <a:ext cx="1143000" cy="228600"/>
          </a:xfrm>
          <a:prstGeom prst="rect">
            <a:avLst/>
          </a:prstGeom>
          <a:noFill/>
          <a:ln/>
        </p:spPr>
        <p:txBody>
          <a:bodyPr wrap="square" lIns="0" tIns="0" rIns="0" bIns="0" rtlCol="0" anchor="ctr"/>
          <a:lstStyle/>
          <a:p>
            <a:pPr indent="0" marL="0">
              <a:buNone/>
            </a:pPr>
            <a:r>
              <a:rPr lang="en-US" sz="1100" dirty="0">
                <a:solidFill>
                  <a:schemeClr val="accent6"/>
                </a:solidFill>
                <a:latin typeface="Calibri" pitchFamily="34" charset="0"/>
                <a:ea typeface="Calibri" pitchFamily="34" charset="-122"/>
                <a:cs typeface="Calibri" pitchFamily="34" charset="-120"/>
              </a:rPr>
              <a:t>10% cut</a:t>
            </a:r>
            <a:endParaRPr lang="en-US" sz="1100" dirty="0"/>
          </a:p>
        </p:txBody>
      </p:sp>
      <p:sp>
        <p:nvSpPr>
          <p:cNvPr id="9" name="Text 6"/>
          <p:cNvSpPr txBox="1"/>
          <p:nvPr/>
        </p:nvSpPr>
        <p:spPr>
          <a:xfrm>
            <a:off x="6263640" y="1737360"/>
            <a:ext cx="114300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+$27k</a:t>
            </a:r>
            <a:endParaRPr lang="en-US" sz="2100" dirty="0"/>
          </a:p>
        </p:txBody>
      </p:sp>
      <p:sp>
        <p:nvSpPr>
          <p:cNvPr id="10" name="Text 7"/>
          <p:cNvSpPr txBox="1"/>
          <p:nvPr/>
        </p:nvSpPr>
        <p:spPr>
          <a:xfrm>
            <a:off x="6263640" y="2194560"/>
            <a:ext cx="1143000" cy="228600"/>
          </a:xfrm>
          <a:prstGeom prst="rect">
            <a:avLst/>
          </a:prstGeom>
          <a:noFill/>
          <a:ln/>
        </p:spPr>
        <p:txBody>
          <a:bodyPr wrap="square" lIns="0" tIns="0" rIns="0" bIns="0" rtlCol="0" anchor="ctr"/>
          <a:lstStyle/>
          <a:p>
            <a:pPr indent="0" marL="0">
              <a:buNone/>
            </a:pPr>
            <a:r>
              <a:rPr lang="en-US" sz="1100" dirty="0">
                <a:solidFill>
                  <a:schemeClr val="accent6"/>
                </a:solidFill>
                <a:latin typeface="Calibri" pitchFamily="34" charset="0"/>
                <a:ea typeface="Calibri" pitchFamily="34" charset="-122"/>
                <a:cs typeface="Calibri" pitchFamily="34" charset="-120"/>
              </a:rPr>
              <a:t>15% cut</a:t>
            </a:r>
            <a:endParaRPr lang="en-US" sz="1100" dirty="0"/>
          </a:p>
        </p:txBody>
      </p:sp>
      <p:sp>
        <p:nvSpPr>
          <p:cNvPr id="11" name="Text 8"/>
          <p:cNvSpPr txBox="1"/>
          <p:nvPr/>
        </p:nvSpPr>
        <p:spPr>
          <a:xfrm>
            <a:off x="7452360" y="1737360"/>
            <a:ext cx="114300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+$312k</a:t>
            </a:r>
            <a:endParaRPr lang="en-US" sz="2100" dirty="0"/>
          </a:p>
        </p:txBody>
      </p:sp>
      <p:sp>
        <p:nvSpPr>
          <p:cNvPr id="12" name="Text 9"/>
          <p:cNvSpPr txBox="1"/>
          <p:nvPr/>
        </p:nvSpPr>
        <p:spPr>
          <a:xfrm>
            <a:off x="7452360" y="2194560"/>
            <a:ext cx="1143000" cy="228600"/>
          </a:xfrm>
          <a:prstGeom prst="rect">
            <a:avLst/>
          </a:prstGeom>
          <a:noFill/>
          <a:ln/>
        </p:spPr>
        <p:txBody>
          <a:bodyPr wrap="square" lIns="0" tIns="0" rIns="0" bIns="0" rtlCol="0" anchor="ctr"/>
          <a:lstStyle/>
          <a:p>
            <a:pPr indent="0" marL="0">
              <a:buNone/>
            </a:pPr>
            <a:r>
              <a:rPr lang="en-US" sz="1100" dirty="0">
                <a:solidFill>
                  <a:schemeClr val="accent6"/>
                </a:solidFill>
                <a:latin typeface="Calibri" pitchFamily="34" charset="0"/>
                <a:ea typeface="Calibri" pitchFamily="34" charset="-122"/>
                <a:cs typeface="Calibri" pitchFamily="34" charset="-120"/>
              </a:rPr>
              <a:t>25% cut</a:t>
            </a:r>
            <a:endParaRPr lang="en-US" sz="1100" dirty="0"/>
          </a:p>
        </p:txBody>
      </p:sp>
      <p:sp>
        <p:nvSpPr>
          <p:cNvPr id="13" name="Text 10"/>
          <p:cNvSpPr txBox="1"/>
          <p:nvPr/>
        </p:nvSpPr>
        <p:spPr>
          <a:xfrm>
            <a:off x="5074920" y="2487168"/>
            <a:ext cx="3474720" cy="457200"/>
          </a:xfrm>
          <a:prstGeom prst="rect">
            <a:avLst/>
          </a:prstGeom>
          <a:noFill/>
          <a:ln/>
        </p:spPr>
        <p:txBody>
          <a:bodyPr wrap="square" lIns="0" tIns="0" rIns="0" bIns="0" rtlCol="0" anchor="ctr"/>
          <a:lstStyle/>
          <a:p>
            <a:pPr indent="0" marL="0">
              <a:buNone/>
            </a:pPr>
            <a:r>
              <a:rPr lang="en-US" sz="1100" b="1" dirty="0">
                <a:solidFill>
                  <a:schemeClr val="bg1"/>
                </a:solidFill>
                <a:latin typeface="Calibri" pitchFamily="34" charset="0"/>
                <a:ea typeface="Calibri" pitchFamily="34" charset="-122"/>
                <a:cs typeface="Calibri" pitchFamily="34" charset="-120"/>
              </a:rPr>
              <a:t>Patient value at 15%: </a:t>
            </a:r>
            <a:pPr indent="0" marL="0">
              <a:buNone/>
            </a:pPr>
            <a:r>
              <a:rPr lang="en-US" sz="1100" dirty="0">
                <a:solidFill>
                  <a:schemeClr val="bg1"/>
                </a:solidFill>
                <a:latin typeface="Calibri" pitchFamily="34" charset="0"/>
                <a:ea typeface="Calibri" pitchFamily="34" charset="-122"/>
                <a:cs typeface="Calibri" pitchFamily="34" charset="-120"/>
              </a:rPr>
              <a:t>28 fewer people back in hospital per 1,000. Thin margin, so we pilot first.</a:t>
            </a:r>
            <a:endParaRPr lang="en-US" sz="1100" dirty="0"/>
          </a:p>
        </p:txBody>
      </p:sp>
      <p:sp>
        <p:nvSpPr>
          <p:cNvPr id="14" name="Shape 11"/>
          <p:cNvSpPr/>
          <p:nvPr/>
        </p:nvSpPr>
        <p:spPr>
          <a:xfrm>
            <a:off x="4892040" y="3154680"/>
            <a:ext cx="3794760" cy="1554480"/>
          </a:xfrm>
          <a:prstGeom prst="roundRect">
            <a:avLst>
              <a:gd name="adj" fmla="val 4706"/>
            </a:avLst>
          </a:prstGeom>
          <a:solidFill>
            <a:srgbClr val="EEF4F4"/>
          </a:solidFill>
          <a:ln w="12700">
            <a:solidFill>
              <a:srgbClr val="EEF4F4"/>
            </a:solidFill>
            <a:prstDash val="solid"/>
          </a:ln>
        </p:spPr>
      </p:sp>
      <p:sp>
        <p:nvSpPr>
          <p:cNvPr id="15" name="Text 12"/>
          <p:cNvSpPr txBox="1"/>
          <p:nvPr/>
        </p:nvSpPr>
        <p:spPr>
          <a:xfrm>
            <a:off x="5029200" y="3218688"/>
            <a:ext cx="3566160" cy="1444752"/>
          </a:xfrm>
          <a:prstGeom prst="rect">
            <a:avLst/>
          </a:prstGeom>
          <a:noFill/>
          <a:ln/>
        </p:spPr>
        <p:txBody>
          <a:bodyPr wrap="square" lIns="0" tIns="0" rIns="0" bIns="0" rtlCol="0" anchor="t"/>
          <a:lstStyle/>
          <a:p>
            <a:pPr indent="0" marL="0">
              <a:spcAft>
                <a:spcPts val="200"/>
              </a:spcAft>
              <a:buNone/>
            </a:pPr>
            <a:r>
              <a:rPr lang="en-US" sz="1050" b="1" dirty="0">
                <a:solidFill>
                  <a:schemeClr val="tx1"/>
                </a:solidFill>
                <a:latin typeface="Calibri" pitchFamily="34" charset="0"/>
                <a:ea typeface="Calibri" pitchFamily="34" charset="-122"/>
                <a:cs typeface="Calibri" pitchFamily="34" charset="-120"/>
              </a:rPr>
              <a:t>How it is built</a:t>
            </a:r>
            <a:endParaRPr lang="en-US" sz="1050" dirty="0"/>
          </a:p>
          <a:p>
            <a:pPr marL="342900" indent="-342900">
              <a:spcAft>
                <a:spcPts val="200"/>
              </a:spcAft>
              <a:buSzPct val="100000"/>
              <a:buChar char="•"/>
            </a:pPr>
            <a:r>
              <a:rPr lang="en-US" sz="1050" dirty="0">
                <a:solidFill>
                  <a:schemeClr val="tx1"/>
                </a:solidFill>
                <a:latin typeface="Calibri" pitchFamily="34" charset="0"/>
                <a:ea typeface="Calibri" pitchFamily="34" charset="-122"/>
                <a:cs typeface="Calibri" pitchFamily="34" charset="-120"/>
              </a:rPr>
              <a:t>Fact: 187 readmissions per 1,000 flagged (18.7%)</a:t>
            </a:r>
            <a:endParaRPr lang="en-US" sz="1050" dirty="0"/>
          </a:p>
          <a:p>
            <a:pPr marL="342900" indent="-342900">
              <a:spcAft>
                <a:spcPts val="200"/>
              </a:spcAft>
              <a:buSzPct val="100000"/>
              <a:buChar char="•"/>
            </a:pPr>
            <a:r>
              <a:rPr lang="en-US" sz="1050" dirty="0">
                <a:solidFill>
                  <a:schemeClr val="tx1"/>
                </a:solidFill>
                <a:latin typeface="Calibri" pitchFamily="34" charset="0"/>
                <a:ea typeface="Calibri" pitchFamily="34" charset="-122"/>
                <a:cs typeface="Calibri" pitchFamily="34" charset="-120"/>
              </a:rPr>
              <a:t>Assumption: $15,200 per readmission (AHRQ 2018 average)</a:t>
            </a:r>
            <a:endParaRPr lang="en-US" sz="1050" dirty="0"/>
          </a:p>
          <a:p>
            <a:pPr marL="342900" indent="-342900">
              <a:spcAft>
                <a:spcPts val="200"/>
              </a:spcAft>
              <a:buSzPct val="100000"/>
              <a:buChar char="•"/>
            </a:pPr>
            <a:r>
              <a:rPr lang="en-US" sz="1050" dirty="0">
                <a:solidFill>
                  <a:schemeClr val="tx1"/>
                </a:solidFill>
                <a:latin typeface="Calibri" pitchFamily="34" charset="0"/>
                <a:ea typeface="Calibri" pitchFamily="34" charset="-122"/>
                <a:cs typeface="Calibri" pitchFamily="34" charset="-120"/>
              </a:rPr>
              <a:t>Assumption: $400 per patient bundle</a:t>
            </a:r>
            <a:endParaRPr lang="en-US" sz="1050" dirty="0"/>
          </a:p>
          <a:p>
            <a:pPr marL="342900" indent="-342900">
              <a:spcAft>
                <a:spcPts val="200"/>
              </a:spcAft>
              <a:buSzPct val="100000"/>
              <a:buChar char="•"/>
            </a:pPr>
            <a:r>
              <a:rPr lang="en-US" sz="1050" b="1" dirty="0">
                <a:solidFill>
                  <a:schemeClr val="accent2"/>
                </a:solidFill>
                <a:latin typeface="Calibri" pitchFamily="34" charset="0"/>
                <a:ea typeface="Calibri" pitchFamily="34" charset="-122"/>
                <a:cs typeface="Calibri" pitchFamily="34" charset="-120"/>
              </a:rPr>
              <a:t>Who captures it? We do on fixed-payment and risk contracts; under fee-for-service, the payer does</a:t>
            </a:r>
            <a:endParaRPr lang="en-US" sz="10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400800" cy="274320"/>
          </a:xfrm>
          <a:prstGeom prst="rect">
            <a:avLst/>
          </a:prstGeom>
          <a:noFill/>
          <a:ln/>
        </p:spPr>
        <p:txBody>
          <a:bodyPr wrap="square" lIns="0" tIns="0" rIns="0" bIns="0" rtlCol="0"/>
          <a:lstStyle/>
          <a:p>
            <a:pPr indent="0" marL="0">
              <a:buNone/>
            </a:pPr>
            <a:r>
              <a:rPr lang="en-US" sz="1100" b="1" spc="100" kern="0" dirty="0">
                <a:solidFill>
                  <a:schemeClr val="accent1"/>
                </a:solidFill>
              </a:rPr>
              <a:t>4 · INTERVENTION</a:t>
            </a:r>
            <a:endParaRPr lang="en-US" sz="1100" dirty="0"/>
          </a:p>
        </p:txBody>
      </p:sp>
      <p:sp>
        <p:nvSpPr>
          <p:cNvPr id="3" name="Text 0"/>
          <p:cNvSpPr/>
          <p:nvPr>
            <p:ph idx="101" type="title" hasCustomPrompt="1"/>
          </p:nvPr>
        </p:nvSpPr>
        <p:spPr>
          <a:xfrm>
            <a:off x="457200" y="502920"/>
            <a:ext cx="8229600" cy="68580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The intervention is the workflow, not the model</a:t>
            </a:r>
            <a:endParaRPr lang="en-US" sz="2400" dirty="0"/>
          </a:p>
        </p:txBody>
      </p:sp>
      <p:sp>
        <p:nvSpPr>
          <p:cNvPr id="4" name="Shape 2"/>
          <p:cNvSpPr/>
          <p:nvPr/>
        </p:nvSpPr>
        <p:spPr>
          <a:xfrm>
            <a:off x="457200" y="1325880"/>
            <a:ext cx="1828800" cy="960120"/>
          </a:xfrm>
          <a:prstGeom prst="roundRect">
            <a:avLst>
              <a:gd name="adj" fmla="val 7619"/>
            </a:avLst>
          </a:prstGeom>
          <a:solidFill>
            <a:srgbClr val="EEF4F4"/>
          </a:solidFill>
          <a:ln w="12700">
            <a:solidFill>
              <a:srgbClr val="EEF4F4"/>
            </a:solidFill>
            <a:prstDash val="solid"/>
          </a:ln>
        </p:spPr>
      </p:sp>
      <p:sp>
        <p:nvSpPr>
          <p:cNvPr id="5" name="Text 3"/>
          <p:cNvSpPr txBox="1"/>
          <p:nvPr/>
        </p:nvSpPr>
        <p:spPr>
          <a:xfrm>
            <a:off x="594360" y="1399032"/>
            <a:ext cx="1554480" cy="228600"/>
          </a:xfrm>
          <a:prstGeom prst="rect">
            <a:avLst/>
          </a:prstGeom>
          <a:noFill/>
          <a:ln/>
        </p:spPr>
        <p:txBody>
          <a:bodyPr wrap="square" lIns="0" tIns="0" rIns="0" bIns="0" rtlCol="0" anchor="ctr"/>
          <a:lstStyle/>
          <a:p>
            <a:pPr indent="0" marL="0">
              <a:buNone/>
            </a:pPr>
            <a:r>
              <a:rPr lang="en-US" sz="1050" b="1" dirty="0">
                <a:solidFill>
                  <a:schemeClr val="accent1"/>
                </a:solidFill>
                <a:latin typeface="Calibri" pitchFamily="34" charset="0"/>
                <a:ea typeface="Calibri" pitchFamily="34" charset="-122"/>
                <a:cs typeface="Calibri" pitchFamily="34" charset="-120"/>
              </a:rPr>
              <a:t>ADMISSION</a:t>
            </a:r>
            <a:endParaRPr lang="en-US" sz="1050" dirty="0"/>
          </a:p>
        </p:txBody>
      </p:sp>
      <p:sp>
        <p:nvSpPr>
          <p:cNvPr id="6" name="Text 4"/>
          <p:cNvSpPr txBox="1"/>
          <p:nvPr/>
        </p:nvSpPr>
        <p:spPr>
          <a:xfrm>
            <a:off x="594360" y="1645920"/>
            <a:ext cx="1600200" cy="594360"/>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Capture prior stays and ER visits</a:t>
            </a:r>
            <a:endParaRPr lang="en-US" sz="1100" dirty="0"/>
          </a:p>
        </p:txBody>
      </p:sp>
      <p:sp>
        <p:nvSpPr>
          <p:cNvPr id="7" name="Shape 5"/>
          <p:cNvSpPr/>
          <p:nvPr/>
        </p:nvSpPr>
        <p:spPr>
          <a:xfrm>
            <a:off x="2340864" y="1673352"/>
            <a:ext cx="182880" cy="274320"/>
          </a:xfrm>
          <a:prstGeom prst="chevron">
            <a:avLst/>
          </a:prstGeom>
          <a:solidFill>
            <a:srgbClr val="0E7C7B"/>
          </a:solidFill>
          <a:ln w="12700">
            <a:solidFill>
              <a:srgbClr val="0E7C7B"/>
            </a:solidFill>
            <a:prstDash val="solid"/>
          </a:ln>
        </p:spPr>
      </p:sp>
      <p:sp>
        <p:nvSpPr>
          <p:cNvPr id="8" name="Shape 6"/>
          <p:cNvSpPr/>
          <p:nvPr/>
        </p:nvSpPr>
        <p:spPr>
          <a:xfrm>
            <a:off x="2560320" y="1325880"/>
            <a:ext cx="1828800" cy="960120"/>
          </a:xfrm>
          <a:prstGeom prst="roundRect">
            <a:avLst>
              <a:gd name="adj" fmla="val 7619"/>
            </a:avLst>
          </a:prstGeom>
          <a:solidFill>
            <a:srgbClr val="EEF4F4"/>
          </a:solidFill>
          <a:ln w="12700">
            <a:solidFill>
              <a:srgbClr val="EEF4F4"/>
            </a:solidFill>
            <a:prstDash val="solid"/>
          </a:ln>
        </p:spPr>
      </p:sp>
      <p:sp>
        <p:nvSpPr>
          <p:cNvPr id="9" name="Text 7"/>
          <p:cNvSpPr txBox="1"/>
          <p:nvPr/>
        </p:nvSpPr>
        <p:spPr>
          <a:xfrm>
            <a:off x="2697480" y="1399032"/>
            <a:ext cx="1554480" cy="228600"/>
          </a:xfrm>
          <a:prstGeom prst="rect">
            <a:avLst/>
          </a:prstGeom>
          <a:noFill/>
          <a:ln/>
        </p:spPr>
        <p:txBody>
          <a:bodyPr wrap="square" lIns="0" tIns="0" rIns="0" bIns="0" rtlCol="0" anchor="ctr"/>
          <a:lstStyle/>
          <a:p>
            <a:pPr indent="0" marL="0">
              <a:buNone/>
            </a:pPr>
            <a:r>
              <a:rPr lang="en-US" sz="1050" b="1" dirty="0">
                <a:solidFill>
                  <a:schemeClr val="accent1"/>
                </a:solidFill>
                <a:latin typeface="Calibri" pitchFamily="34" charset="0"/>
                <a:ea typeface="Calibri" pitchFamily="34" charset="-122"/>
                <a:cs typeface="Calibri" pitchFamily="34" charset="-120"/>
              </a:rPr>
              <a:t>FLAG</a:t>
            </a:r>
            <a:endParaRPr lang="en-US" sz="1050" dirty="0"/>
          </a:p>
        </p:txBody>
      </p:sp>
      <p:sp>
        <p:nvSpPr>
          <p:cNvPr id="10" name="Text 8"/>
          <p:cNvSpPr txBox="1"/>
          <p:nvPr/>
        </p:nvSpPr>
        <p:spPr>
          <a:xfrm>
            <a:off x="2697480" y="1645920"/>
            <a:ext cx="1600200" cy="594360"/>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Tier 1 / Tier 2 rule in the EHR</a:t>
            </a:r>
            <a:endParaRPr lang="en-US" sz="1100" dirty="0"/>
          </a:p>
        </p:txBody>
      </p:sp>
      <p:sp>
        <p:nvSpPr>
          <p:cNvPr id="11" name="Shape 9"/>
          <p:cNvSpPr/>
          <p:nvPr/>
        </p:nvSpPr>
        <p:spPr>
          <a:xfrm>
            <a:off x="4443984" y="1673352"/>
            <a:ext cx="182880" cy="274320"/>
          </a:xfrm>
          <a:prstGeom prst="chevron">
            <a:avLst/>
          </a:prstGeom>
          <a:solidFill>
            <a:srgbClr val="0E7C7B"/>
          </a:solidFill>
          <a:ln w="12700">
            <a:solidFill>
              <a:srgbClr val="0E7C7B"/>
            </a:solidFill>
            <a:prstDash val="solid"/>
          </a:ln>
        </p:spPr>
      </p:sp>
      <p:sp>
        <p:nvSpPr>
          <p:cNvPr id="12" name="Shape 10"/>
          <p:cNvSpPr/>
          <p:nvPr/>
        </p:nvSpPr>
        <p:spPr>
          <a:xfrm>
            <a:off x="4663440" y="1325880"/>
            <a:ext cx="1828800" cy="960120"/>
          </a:xfrm>
          <a:prstGeom prst="roundRect">
            <a:avLst>
              <a:gd name="adj" fmla="val 7619"/>
            </a:avLst>
          </a:prstGeom>
          <a:solidFill>
            <a:srgbClr val="EEF4F4"/>
          </a:solidFill>
          <a:ln w="12700">
            <a:solidFill>
              <a:srgbClr val="EEF4F4"/>
            </a:solidFill>
            <a:prstDash val="solid"/>
          </a:ln>
        </p:spPr>
      </p:sp>
      <p:sp>
        <p:nvSpPr>
          <p:cNvPr id="13" name="Text 11"/>
          <p:cNvSpPr txBox="1"/>
          <p:nvPr/>
        </p:nvSpPr>
        <p:spPr>
          <a:xfrm>
            <a:off x="4800600" y="1399032"/>
            <a:ext cx="1554480" cy="228600"/>
          </a:xfrm>
          <a:prstGeom prst="rect">
            <a:avLst/>
          </a:prstGeom>
          <a:noFill/>
          <a:ln/>
        </p:spPr>
        <p:txBody>
          <a:bodyPr wrap="square" lIns="0" tIns="0" rIns="0" bIns="0" rtlCol="0" anchor="ctr"/>
          <a:lstStyle/>
          <a:p>
            <a:pPr indent="0" marL="0">
              <a:buNone/>
            </a:pPr>
            <a:r>
              <a:rPr lang="en-US" sz="1050" b="1" dirty="0">
                <a:solidFill>
                  <a:schemeClr val="accent1"/>
                </a:solidFill>
                <a:latin typeface="Calibri" pitchFamily="34" charset="0"/>
                <a:ea typeface="Calibri" pitchFamily="34" charset="-122"/>
                <a:cs typeface="Calibri" pitchFamily="34" charset="-120"/>
              </a:rPr>
              <a:t>ACT</a:t>
            </a:r>
            <a:endParaRPr lang="en-US" sz="1050" dirty="0"/>
          </a:p>
        </p:txBody>
      </p:sp>
      <p:sp>
        <p:nvSpPr>
          <p:cNvPr id="14" name="Text 12"/>
          <p:cNvSpPr txBox="1"/>
          <p:nvPr/>
        </p:nvSpPr>
        <p:spPr>
          <a:xfrm>
            <a:off x="4800600" y="1645920"/>
            <a:ext cx="1600200" cy="594360"/>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Med review and education; nurse call ≤72h; clinic visit ≤7 days</a:t>
            </a:r>
            <a:endParaRPr lang="en-US" sz="1100" dirty="0"/>
          </a:p>
        </p:txBody>
      </p:sp>
      <p:sp>
        <p:nvSpPr>
          <p:cNvPr id="15" name="Shape 13"/>
          <p:cNvSpPr/>
          <p:nvPr/>
        </p:nvSpPr>
        <p:spPr>
          <a:xfrm>
            <a:off x="6547104" y="1673352"/>
            <a:ext cx="182880" cy="274320"/>
          </a:xfrm>
          <a:prstGeom prst="chevron">
            <a:avLst/>
          </a:prstGeom>
          <a:solidFill>
            <a:srgbClr val="0E7C7B"/>
          </a:solidFill>
          <a:ln w="12700">
            <a:solidFill>
              <a:srgbClr val="0E7C7B"/>
            </a:solidFill>
            <a:prstDash val="solid"/>
          </a:ln>
        </p:spPr>
      </p:sp>
      <p:sp>
        <p:nvSpPr>
          <p:cNvPr id="16" name="Shape 14"/>
          <p:cNvSpPr/>
          <p:nvPr/>
        </p:nvSpPr>
        <p:spPr>
          <a:xfrm>
            <a:off x="6766560" y="1325880"/>
            <a:ext cx="1828800" cy="960120"/>
          </a:xfrm>
          <a:prstGeom prst="roundRect">
            <a:avLst>
              <a:gd name="adj" fmla="val 7619"/>
            </a:avLst>
          </a:prstGeom>
          <a:solidFill>
            <a:srgbClr val="EEF4F4"/>
          </a:solidFill>
          <a:ln w="12700">
            <a:solidFill>
              <a:srgbClr val="EEF4F4"/>
            </a:solidFill>
            <a:prstDash val="solid"/>
          </a:ln>
        </p:spPr>
      </p:sp>
      <p:sp>
        <p:nvSpPr>
          <p:cNvPr id="17" name="Text 15"/>
          <p:cNvSpPr txBox="1"/>
          <p:nvPr/>
        </p:nvSpPr>
        <p:spPr>
          <a:xfrm>
            <a:off x="6903720" y="1399032"/>
            <a:ext cx="1554480" cy="228600"/>
          </a:xfrm>
          <a:prstGeom prst="rect">
            <a:avLst/>
          </a:prstGeom>
          <a:noFill/>
          <a:ln/>
        </p:spPr>
        <p:txBody>
          <a:bodyPr wrap="square" lIns="0" tIns="0" rIns="0" bIns="0" rtlCol="0" anchor="ctr"/>
          <a:lstStyle/>
          <a:p>
            <a:pPr indent="0" marL="0">
              <a:buNone/>
            </a:pPr>
            <a:r>
              <a:rPr lang="en-US" sz="1050" b="1" dirty="0">
                <a:solidFill>
                  <a:schemeClr val="accent1"/>
                </a:solidFill>
                <a:latin typeface="Calibri" pitchFamily="34" charset="0"/>
                <a:ea typeface="Calibri" pitchFamily="34" charset="-122"/>
                <a:cs typeface="Calibri" pitchFamily="34" charset="-120"/>
              </a:rPr>
              <a:t>MEASURE</a:t>
            </a:r>
            <a:endParaRPr lang="en-US" sz="1050" dirty="0"/>
          </a:p>
        </p:txBody>
      </p:sp>
      <p:sp>
        <p:nvSpPr>
          <p:cNvPr id="18" name="Text 16"/>
          <p:cNvSpPr txBox="1"/>
          <p:nvPr/>
        </p:nvSpPr>
        <p:spPr>
          <a:xfrm>
            <a:off x="6903720" y="1645920"/>
            <a:ext cx="1600200" cy="594360"/>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30-day readmission and cost per patient</a:t>
            </a:r>
            <a:endParaRPr lang="en-US" sz="1100" dirty="0"/>
          </a:p>
        </p:txBody>
      </p:sp>
      <p:sp>
        <p:nvSpPr>
          <p:cNvPr id="19" name="Shape 17"/>
          <p:cNvSpPr/>
          <p:nvPr/>
        </p:nvSpPr>
        <p:spPr>
          <a:xfrm>
            <a:off x="457200" y="2468880"/>
            <a:ext cx="1325880" cy="384048"/>
          </a:xfrm>
          <a:prstGeom prst="chevron">
            <a:avLst/>
          </a:prstGeom>
          <a:solidFill>
            <a:srgbClr val="0E7C7B"/>
          </a:solidFill>
          <a:ln w="12700">
            <a:solidFill>
              <a:srgbClr val="FFFFFF"/>
            </a:solidFill>
            <a:prstDash val="solid"/>
          </a:ln>
        </p:spPr>
      </p:sp>
      <p:sp>
        <p:nvSpPr>
          <p:cNvPr id="20" name="Text 18"/>
          <p:cNvSpPr txBox="1"/>
          <p:nvPr/>
        </p:nvSpPr>
        <p:spPr>
          <a:xfrm>
            <a:off x="640080" y="2468880"/>
            <a:ext cx="960120" cy="38404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Process</a:t>
            </a:r>
            <a:endParaRPr lang="en-US" sz="1100" dirty="0"/>
          </a:p>
        </p:txBody>
      </p:sp>
      <p:sp>
        <p:nvSpPr>
          <p:cNvPr id="21" name="Shape 19"/>
          <p:cNvSpPr/>
          <p:nvPr/>
        </p:nvSpPr>
        <p:spPr>
          <a:xfrm>
            <a:off x="1828800" y="2468880"/>
            <a:ext cx="1325880" cy="384048"/>
          </a:xfrm>
          <a:prstGeom prst="chevron">
            <a:avLst/>
          </a:prstGeom>
          <a:solidFill>
            <a:srgbClr val="0E7C7B"/>
          </a:solidFill>
          <a:ln w="12700">
            <a:solidFill>
              <a:srgbClr val="FFFFFF"/>
            </a:solidFill>
            <a:prstDash val="solid"/>
          </a:ln>
        </p:spPr>
      </p:sp>
      <p:sp>
        <p:nvSpPr>
          <p:cNvPr id="22" name="Text 20"/>
          <p:cNvSpPr txBox="1"/>
          <p:nvPr/>
        </p:nvSpPr>
        <p:spPr>
          <a:xfrm>
            <a:off x="2011680" y="2468880"/>
            <a:ext cx="960120" cy="38404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Rules</a:t>
            </a:r>
            <a:endParaRPr lang="en-US" sz="1100" dirty="0"/>
          </a:p>
        </p:txBody>
      </p:sp>
      <p:sp>
        <p:nvSpPr>
          <p:cNvPr id="23" name="Shape 21"/>
          <p:cNvSpPr/>
          <p:nvPr/>
        </p:nvSpPr>
        <p:spPr>
          <a:xfrm>
            <a:off x="3200400" y="2468880"/>
            <a:ext cx="1325880" cy="384048"/>
          </a:xfrm>
          <a:prstGeom prst="chevron">
            <a:avLst/>
          </a:prstGeom>
          <a:solidFill>
            <a:srgbClr val="E3E8EA"/>
          </a:solidFill>
          <a:ln w="12700">
            <a:solidFill>
              <a:srgbClr val="FFFFFF"/>
            </a:solidFill>
            <a:prstDash val="solid"/>
          </a:ln>
        </p:spPr>
      </p:sp>
      <p:sp>
        <p:nvSpPr>
          <p:cNvPr id="24" name="Text 22"/>
          <p:cNvSpPr txBox="1"/>
          <p:nvPr/>
        </p:nvSpPr>
        <p:spPr>
          <a:xfrm>
            <a:off x="3383280" y="2468880"/>
            <a:ext cx="960120" cy="384048"/>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Analytics</a:t>
            </a:r>
            <a:endParaRPr lang="en-US" sz="1100" dirty="0"/>
          </a:p>
        </p:txBody>
      </p:sp>
      <p:sp>
        <p:nvSpPr>
          <p:cNvPr id="25" name="Shape 23"/>
          <p:cNvSpPr/>
          <p:nvPr/>
        </p:nvSpPr>
        <p:spPr>
          <a:xfrm>
            <a:off x="4572000" y="2468880"/>
            <a:ext cx="1325880" cy="384048"/>
          </a:xfrm>
          <a:prstGeom prst="chevron">
            <a:avLst/>
          </a:prstGeom>
          <a:solidFill>
            <a:srgbClr val="F2B134"/>
          </a:solidFill>
          <a:ln w="12700">
            <a:solidFill>
              <a:srgbClr val="FFFFFF"/>
            </a:solidFill>
            <a:prstDash val="solid"/>
          </a:ln>
        </p:spPr>
      </p:sp>
      <p:sp>
        <p:nvSpPr>
          <p:cNvPr id="26" name="Text 24"/>
          <p:cNvSpPr txBox="1"/>
          <p:nvPr/>
        </p:nvSpPr>
        <p:spPr>
          <a:xfrm>
            <a:off x="4754880" y="2468880"/>
            <a:ext cx="960120" cy="384048"/>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ML</a:t>
            </a:r>
            <a:endParaRPr lang="en-US" sz="1100" dirty="0"/>
          </a:p>
        </p:txBody>
      </p:sp>
      <p:sp>
        <p:nvSpPr>
          <p:cNvPr id="27" name="Shape 25"/>
          <p:cNvSpPr/>
          <p:nvPr/>
        </p:nvSpPr>
        <p:spPr>
          <a:xfrm>
            <a:off x="5943600" y="2468880"/>
            <a:ext cx="1325880" cy="384048"/>
          </a:xfrm>
          <a:prstGeom prst="chevron">
            <a:avLst/>
          </a:prstGeom>
          <a:solidFill>
            <a:srgbClr val="E3E8EA"/>
          </a:solidFill>
          <a:ln w="12700">
            <a:solidFill>
              <a:srgbClr val="FFFFFF"/>
            </a:solidFill>
            <a:prstDash val="solid"/>
          </a:ln>
        </p:spPr>
      </p:sp>
      <p:sp>
        <p:nvSpPr>
          <p:cNvPr id="28" name="Text 26"/>
          <p:cNvSpPr txBox="1"/>
          <p:nvPr/>
        </p:nvSpPr>
        <p:spPr>
          <a:xfrm>
            <a:off x="6126480" y="2468880"/>
            <a:ext cx="960120" cy="384048"/>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GenAI</a:t>
            </a:r>
            <a:endParaRPr lang="en-US" sz="1100" dirty="0"/>
          </a:p>
        </p:txBody>
      </p:sp>
      <p:sp>
        <p:nvSpPr>
          <p:cNvPr id="29" name="Shape 27"/>
          <p:cNvSpPr/>
          <p:nvPr/>
        </p:nvSpPr>
        <p:spPr>
          <a:xfrm>
            <a:off x="7315200" y="2468880"/>
            <a:ext cx="1325880" cy="384048"/>
          </a:xfrm>
          <a:prstGeom prst="chevron">
            <a:avLst/>
          </a:prstGeom>
          <a:solidFill>
            <a:srgbClr val="E3E8EA"/>
          </a:solidFill>
          <a:ln w="12700">
            <a:solidFill>
              <a:srgbClr val="FFFFFF"/>
            </a:solidFill>
            <a:prstDash val="solid"/>
          </a:ln>
        </p:spPr>
      </p:sp>
      <p:sp>
        <p:nvSpPr>
          <p:cNvPr id="30" name="Text 28"/>
          <p:cNvSpPr txBox="1"/>
          <p:nvPr/>
        </p:nvSpPr>
        <p:spPr>
          <a:xfrm>
            <a:off x="7498080" y="2468880"/>
            <a:ext cx="960120" cy="384048"/>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Agentic AI</a:t>
            </a:r>
            <a:endParaRPr lang="en-US" sz="1100" dirty="0"/>
          </a:p>
        </p:txBody>
      </p:sp>
      <p:sp>
        <p:nvSpPr>
          <p:cNvPr id="31" name="Shape 29"/>
          <p:cNvSpPr/>
          <p:nvPr/>
        </p:nvSpPr>
        <p:spPr>
          <a:xfrm>
            <a:off x="457200" y="3017520"/>
            <a:ext cx="4023360" cy="1691640"/>
          </a:xfrm>
          <a:prstGeom prst="roundRect">
            <a:avLst>
              <a:gd name="adj" fmla="val 4324"/>
            </a:avLst>
          </a:prstGeom>
          <a:solidFill>
            <a:srgbClr val="EEF4F4"/>
          </a:solidFill>
          <a:ln w="12700">
            <a:solidFill>
              <a:srgbClr val="EEF4F4"/>
            </a:solidFill>
            <a:prstDash val="solid"/>
          </a:ln>
        </p:spPr>
      </p:sp>
      <p:sp>
        <p:nvSpPr>
          <p:cNvPr id="32" name="Text 30"/>
          <p:cNvSpPr txBox="1"/>
          <p:nvPr/>
        </p:nvSpPr>
        <p:spPr>
          <a:xfrm>
            <a:off x="640080" y="3108960"/>
            <a:ext cx="3703320" cy="1508760"/>
          </a:xfrm>
          <a:prstGeom prst="rect">
            <a:avLst/>
          </a:prstGeom>
          <a:noFill/>
          <a:ln/>
        </p:spPr>
        <p:txBody>
          <a:bodyPr wrap="square" lIns="0" tIns="0" rIns="0" bIns="0" rtlCol="0" anchor="t"/>
          <a:lstStyle/>
          <a:p>
            <a:pPr indent="0" marL="0">
              <a:spcAft>
                <a:spcPts val="300"/>
              </a:spcAft>
              <a:buNone/>
            </a:pPr>
            <a:r>
              <a:rPr lang="en-US" sz="1250" b="1" dirty="0">
                <a:solidFill>
                  <a:schemeClr val="accent1"/>
                </a:solidFill>
                <a:latin typeface="Calibri" pitchFamily="34" charset="0"/>
                <a:ea typeface="Calibri" pitchFamily="34" charset="-122"/>
                <a:cs typeface="Calibri" pitchFamily="34" charset="-120"/>
              </a:rPr>
              <a:t>Why start at Process + Rules</a:t>
            </a:r>
            <a:endParaRPr lang="en-US" sz="1150" dirty="0"/>
          </a:p>
          <a:p>
            <a:pPr marL="342900" indent="-3429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Runs in the EHR within weeks</a:t>
            </a:r>
            <a:endParaRPr lang="en-US" sz="1150" dirty="0"/>
          </a:p>
          <a:p>
            <a:pPr marL="342900" indent="-3429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Clinicians can see why each patient was flagged</a:t>
            </a:r>
            <a:endParaRPr lang="en-US" sz="1150" dirty="0"/>
          </a:p>
          <a:p>
            <a:pPr marL="342900" indent="-3429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No model to build, monitor or retrain</a:t>
            </a:r>
            <a:endParaRPr lang="en-US" sz="1150" dirty="0"/>
          </a:p>
          <a:p>
            <a:pPr marL="342900" indent="-3429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Uses two fields already in every patient record</a:t>
            </a:r>
            <a:endParaRPr lang="en-US" sz="1150" dirty="0"/>
          </a:p>
        </p:txBody>
      </p:sp>
      <p:sp>
        <p:nvSpPr>
          <p:cNvPr id="33" name="Shape 31"/>
          <p:cNvSpPr/>
          <p:nvPr/>
        </p:nvSpPr>
        <p:spPr>
          <a:xfrm>
            <a:off x="4663440" y="3017520"/>
            <a:ext cx="4023360" cy="1691640"/>
          </a:xfrm>
          <a:prstGeom prst="roundRect">
            <a:avLst>
              <a:gd name="adj" fmla="val 4324"/>
            </a:avLst>
          </a:prstGeom>
          <a:solidFill>
            <a:srgbClr val="EEF4F4"/>
          </a:solidFill>
          <a:ln w="12700">
            <a:solidFill>
              <a:srgbClr val="EEF4F4"/>
            </a:solidFill>
            <a:prstDash val="solid"/>
          </a:ln>
        </p:spPr>
      </p:sp>
      <p:sp>
        <p:nvSpPr>
          <p:cNvPr id="34" name="Text 32"/>
          <p:cNvSpPr txBox="1"/>
          <p:nvPr/>
        </p:nvSpPr>
        <p:spPr>
          <a:xfrm>
            <a:off x="4846320" y="3090672"/>
            <a:ext cx="3703320" cy="411480"/>
          </a:xfrm>
          <a:prstGeom prst="rect">
            <a:avLst/>
          </a:prstGeom>
          <a:noFill/>
          <a:ln/>
        </p:spPr>
        <p:txBody>
          <a:bodyPr wrap="square" lIns="0" tIns="0" rIns="0" bIns="0" rtlCol="0" anchor="ctr"/>
          <a:lstStyle/>
          <a:p>
            <a:pPr indent="0" marL="0">
              <a:buNone/>
            </a:pPr>
            <a:r>
              <a:rPr lang="en-US" sz="1150" b="1" dirty="0">
                <a:solidFill>
                  <a:schemeClr val="accent2"/>
                </a:solidFill>
                <a:latin typeface="Calibri" pitchFamily="34" charset="0"/>
                <a:ea typeface="Calibri" pitchFamily="34" charset="-122"/>
                <a:cs typeface="Calibri" pitchFamily="34" charset="-120"/>
              </a:rPr>
              <a:t>Does AI add value? Tested on 30% held-out patients, same number flagged</a:t>
            </a:r>
            <a:endParaRPr lang="en-US" sz="1150" dirty="0"/>
          </a:p>
        </p:txBody>
      </p:sp>
      <p:sp>
        <p:nvSpPr>
          <p:cNvPr id="35" name="Text 33"/>
          <p:cNvSpPr txBox="1"/>
          <p:nvPr/>
        </p:nvSpPr>
        <p:spPr>
          <a:xfrm>
            <a:off x="4846320" y="3520440"/>
            <a:ext cx="1737360" cy="201168"/>
          </a:xfrm>
          <a:prstGeom prst="rect">
            <a:avLst/>
          </a:prstGeom>
          <a:noFill/>
          <a:ln/>
        </p:spPr>
        <p:txBody>
          <a:bodyPr wrap="square" lIns="0" tIns="0" rIns="0" bIns="0" rtlCol="0" anchor="ctr"/>
          <a:lstStyle/>
          <a:p>
            <a:pPr indent="0" marL="0">
              <a:buNone/>
            </a:pPr>
            <a:r>
              <a:rPr lang="en-US" sz="1050" b="1" dirty="0">
                <a:solidFill>
                  <a:schemeClr val="accent5"/>
                </a:solidFill>
                <a:latin typeface="Calibri" pitchFamily="34" charset="0"/>
                <a:ea typeface="Calibri" pitchFamily="34" charset="-122"/>
                <a:cs typeface="Calibri" pitchFamily="34" charset="-120"/>
              </a:rPr>
              <a:t>Rule</a:t>
            </a:r>
            <a:endParaRPr lang="en-US" sz="1050" dirty="0"/>
          </a:p>
        </p:txBody>
      </p:sp>
      <p:sp>
        <p:nvSpPr>
          <p:cNvPr id="36" name="Text 34"/>
          <p:cNvSpPr txBox="1"/>
          <p:nvPr/>
        </p:nvSpPr>
        <p:spPr>
          <a:xfrm>
            <a:off x="4846320" y="3703320"/>
            <a:ext cx="1737360" cy="384048"/>
          </a:xfrm>
          <a:prstGeom prst="rect">
            <a:avLst/>
          </a:prstGeom>
          <a:noFill/>
          <a:ln/>
        </p:spPr>
        <p:txBody>
          <a:bodyPr wrap="square" lIns="0" tIns="0" rIns="0" bIns="0" rtlCol="0" anchor="ctr"/>
          <a:lstStyle/>
          <a:p>
            <a:pPr indent="0" marL="0">
              <a:buNone/>
            </a:pPr>
            <a:r>
              <a:rPr lang="en-US" sz="2100" b="1" dirty="0">
                <a:solidFill>
                  <a:schemeClr val="accent1"/>
                </a:solidFill>
                <a:latin typeface="Cambria" pitchFamily="34" charset="0"/>
                <a:ea typeface="Cambria" pitchFamily="34" charset="-122"/>
                <a:cs typeface="Cambria" pitchFamily="34" charset="-120"/>
              </a:rPr>
              <a:t>19.2%</a:t>
            </a:r>
            <a:endParaRPr lang="en-US" sz="2100" dirty="0"/>
          </a:p>
        </p:txBody>
      </p:sp>
      <p:sp>
        <p:nvSpPr>
          <p:cNvPr id="37" name="Text 35"/>
          <p:cNvSpPr txBox="1"/>
          <p:nvPr/>
        </p:nvSpPr>
        <p:spPr>
          <a:xfrm>
            <a:off x="4846320" y="4069080"/>
            <a:ext cx="1783080" cy="201168"/>
          </a:xfrm>
          <a:prstGeom prst="rect">
            <a:avLst/>
          </a:prstGeom>
          <a:noFill/>
          <a:ln/>
        </p:spPr>
        <p:txBody>
          <a:bodyPr wrap="square" lIns="0" tIns="0" rIns="0" bIns="0" rtlCol="0" anchor="ctr"/>
          <a:lstStyle/>
          <a:p>
            <a:pPr indent="0" marL="0">
              <a:buNone/>
            </a:pPr>
            <a:r>
              <a:rPr lang="en-US" sz="950" dirty="0">
                <a:solidFill>
                  <a:schemeClr val="tx1"/>
                </a:solidFill>
                <a:latin typeface="Calibri" pitchFamily="34" charset="0"/>
                <a:ea typeface="Calibri" pitchFamily="34" charset="-122"/>
                <a:cs typeface="Calibri" pitchFamily="34" charset="-120"/>
              </a:rPr>
              <a:t>hit rate · catches 36% of readmits</a:t>
            </a:r>
            <a:endParaRPr lang="en-US" sz="950" dirty="0"/>
          </a:p>
        </p:txBody>
      </p:sp>
      <p:sp>
        <p:nvSpPr>
          <p:cNvPr id="38" name="Text 36"/>
          <p:cNvSpPr txBox="1"/>
          <p:nvPr/>
        </p:nvSpPr>
        <p:spPr>
          <a:xfrm>
            <a:off x="6675120" y="3520440"/>
            <a:ext cx="1737360" cy="201168"/>
          </a:xfrm>
          <a:prstGeom prst="rect">
            <a:avLst/>
          </a:prstGeom>
          <a:noFill/>
          <a:ln/>
        </p:spPr>
        <p:txBody>
          <a:bodyPr wrap="square" lIns="0" tIns="0" rIns="0" bIns="0" rtlCol="0" anchor="ctr"/>
          <a:lstStyle/>
          <a:p>
            <a:pPr indent="0" marL="0">
              <a:buNone/>
            </a:pPr>
            <a:r>
              <a:rPr lang="en-US" sz="1050" b="1" dirty="0">
                <a:solidFill>
                  <a:schemeClr val="accent5"/>
                </a:solidFill>
                <a:latin typeface="Calibri" pitchFamily="34" charset="0"/>
                <a:ea typeface="Calibri" pitchFamily="34" charset="-122"/>
                <a:cs typeface="Calibri" pitchFamily="34" charset="-120"/>
              </a:rPr>
              <a:t>ML</a:t>
            </a:r>
            <a:endParaRPr lang="en-US" sz="1050" dirty="0"/>
          </a:p>
        </p:txBody>
      </p:sp>
      <p:sp>
        <p:nvSpPr>
          <p:cNvPr id="39" name="Text 37"/>
          <p:cNvSpPr txBox="1"/>
          <p:nvPr/>
        </p:nvSpPr>
        <p:spPr>
          <a:xfrm>
            <a:off x="6675120" y="3703320"/>
            <a:ext cx="1737360" cy="384048"/>
          </a:xfrm>
          <a:prstGeom prst="rect">
            <a:avLst/>
          </a:prstGeom>
          <a:noFill/>
          <a:ln/>
        </p:spPr>
        <p:txBody>
          <a:bodyPr wrap="square" lIns="0" tIns="0" rIns="0" bIns="0" rtlCol="0" anchor="ctr"/>
          <a:lstStyle/>
          <a:p>
            <a:pPr indent="0" marL="0">
              <a:buNone/>
            </a:pPr>
            <a:r>
              <a:rPr lang="en-US" sz="2100" b="1" dirty="0">
                <a:solidFill>
                  <a:schemeClr val="accent2"/>
                </a:solidFill>
                <a:latin typeface="Cambria" pitchFamily="34" charset="0"/>
                <a:ea typeface="Cambria" pitchFamily="34" charset="-122"/>
                <a:cs typeface="Cambria" pitchFamily="34" charset="-120"/>
              </a:rPr>
              <a:t>22.0%</a:t>
            </a:r>
            <a:endParaRPr lang="en-US" sz="2100" dirty="0"/>
          </a:p>
        </p:txBody>
      </p:sp>
      <p:sp>
        <p:nvSpPr>
          <p:cNvPr id="40" name="Text 38"/>
          <p:cNvSpPr txBox="1"/>
          <p:nvPr/>
        </p:nvSpPr>
        <p:spPr>
          <a:xfrm>
            <a:off x="6675120" y="4069080"/>
            <a:ext cx="1783080" cy="201168"/>
          </a:xfrm>
          <a:prstGeom prst="rect">
            <a:avLst/>
          </a:prstGeom>
          <a:noFill/>
          <a:ln/>
        </p:spPr>
        <p:txBody>
          <a:bodyPr wrap="square" lIns="0" tIns="0" rIns="0" bIns="0" rtlCol="0" anchor="ctr"/>
          <a:lstStyle/>
          <a:p>
            <a:pPr indent="0" marL="0">
              <a:buNone/>
            </a:pPr>
            <a:r>
              <a:rPr lang="en-US" sz="950" dirty="0">
                <a:solidFill>
                  <a:schemeClr val="tx1"/>
                </a:solidFill>
                <a:latin typeface="Calibri" pitchFamily="34" charset="0"/>
                <a:ea typeface="Calibri" pitchFamily="34" charset="-122"/>
                <a:cs typeface="Calibri" pitchFamily="34" charset="-120"/>
              </a:rPr>
              <a:t>hit rate · catches 42% of readmits</a:t>
            </a:r>
            <a:endParaRPr lang="en-US" sz="950" dirty="0"/>
          </a:p>
        </p:txBody>
      </p:sp>
      <p:sp>
        <p:nvSpPr>
          <p:cNvPr id="41" name="Text 39"/>
          <p:cNvSpPr txBox="1"/>
          <p:nvPr/>
        </p:nvSpPr>
        <p:spPr>
          <a:xfrm>
            <a:off x="4846320" y="4297680"/>
            <a:ext cx="3703320" cy="365760"/>
          </a:xfrm>
          <a:prstGeom prst="rect">
            <a:avLst/>
          </a:prstGeom>
          <a:noFill/>
          <a:ln/>
        </p:spPr>
        <p:txBody>
          <a:bodyPr wrap="square" lIns="0" tIns="0" rIns="0" bIns="0" rtlCol="0" anchor="ctr"/>
          <a:lstStyle/>
          <a:p>
            <a:pPr indent="0" marL="0">
              <a:buNone/>
            </a:pPr>
            <a:r>
              <a:rPr lang="en-US" sz="1050" i="1" dirty="0">
                <a:solidFill>
                  <a:schemeClr val="tx1"/>
                </a:solidFill>
                <a:latin typeface="Calibri" pitchFamily="34" charset="0"/>
                <a:ea typeface="Calibri" pitchFamily="34" charset="-122"/>
                <a:cs typeface="Calibri" pitchFamily="34" charset="-120"/>
              </a:rPr>
              <a:t>+2.8 pts ≈ $64k per 1,000 flagged at a 15% effect. Earn it after the pilot.</a:t>
            </a:r>
            <a:endParaRPr lang="en-US" sz="10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400800" cy="274320"/>
          </a:xfrm>
          <a:prstGeom prst="rect">
            <a:avLst/>
          </a:prstGeom>
          <a:noFill/>
          <a:ln/>
        </p:spPr>
        <p:txBody>
          <a:bodyPr wrap="square" lIns="0" tIns="0" rIns="0" bIns="0" rtlCol="0"/>
          <a:lstStyle/>
          <a:p>
            <a:pPr indent="0" marL="0">
              <a:buNone/>
            </a:pPr>
            <a:r>
              <a:rPr lang="en-US" sz="1100" b="1" spc="100" kern="0" dirty="0">
                <a:solidFill>
                  <a:schemeClr val="accent1"/>
                </a:solidFill>
              </a:rPr>
              <a:t>5 · UNKNOWNS &amp; VALIDATION PLAN</a:t>
            </a:r>
            <a:endParaRPr lang="en-US" sz="1100" dirty="0"/>
          </a:p>
        </p:txBody>
      </p:sp>
      <p:sp>
        <p:nvSpPr>
          <p:cNvPr id="3" name="Text 0"/>
          <p:cNvSpPr/>
          <p:nvPr>
            <p:ph idx="101" type="title" hasCustomPrompt="1"/>
          </p:nvPr>
        </p:nvSpPr>
        <p:spPr>
          <a:xfrm>
            <a:off x="457200" y="502920"/>
            <a:ext cx="8229600" cy="68580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Three gates in 90 days before we build anything</a:t>
            </a:r>
            <a:endParaRPr lang="en-US" sz="2400" dirty="0"/>
          </a:p>
        </p:txBody>
      </p:sp>
      <p:sp>
        <p:nvSpPr>
          <p:cNvPr id="4" name="Shape 2"/>
          <p:cNvSpPr/>
          <p:nvPr/>
        </p:nvSpPr>
        <p:spPr>
          <a:xfrm>
            <a:off x="457200" y="1325880"/>
            <a:ext cx="2615184" cy="1600200"/>
          </a:xfrm>
          <a:prstGeom prst="roundRect">
            <a:avLst>
              <a:gd name="adj" fmla="val 4571"/>
            </a:avLst>
          </a:prstGeom>
          <a:solidFill>
            <a:srgbClr val="EEF4F4"/>
          </a:solidFill>
          <a:ln w="12700">
            <a:solidFill>
              <a:srgbClr val="EEF4F4"/>
            </a:solidFill>
            <a:prstDash val="solid"/>
          </a:ln>
        </p:spPr>
      </p:sp>
      <p:sp>
        <p:nvSpPr>
          <p:cNvPr id="5" name="Shape 3"/>
          <p:cNvSpPr/>
          <p:nvPr/>
        </p:nvSpPr>
        <p:spPr>
          <a:xfrm>
            <a:off x="594360" y="1444752"/>
            <a:ext cx="384048" cy="384048"/>
          </a:xfrm>
          <a:prstGeom prst="ellipse">
            <a:avLst/>
          </a:prstGeom>
          <a:solidFill>
            <a:srgbClr val="0E7C7B"/>
          </a:solidFill>
          <a:ln w="12700">
            <a:solidFill>
              <a:srgbClr val="0E7C7B"/>
            </a:solidFill>
            <a:prstDash val="solid"/>
          </a:ln>
        </p:spPr>
      </p:sp>
      <p:sp>
        <p:nvSpPr>
          <p:cNvPr id="6" name="Text 4"/>
          <p:cNvSpPr txBox="1"/>
          <p:nvPr/>
        </p:nvSpPr>
        <p:spPr>
          <a:xfrm>
            <a:off x="594360" y="14447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078992" y="1463040"/>
            <a:ext cx="1920240" cy="329184"/>
          </a:xfrm>
          <a:prstGeom prst="rect">
            <a:avLst/>
          </a:prstGeom>
          <a:noFill/>
          <a:ln/>
        </p:spPr>
        <p:txBody>
          <a:bodyPr wrap="square" lIns="0" tIns="0" rIns="0" bIns="0" rtlCol="0" anchor="ctr"/>
          <a:lstStyle/>
          <a:p>
            <a:pPr indent="0" marL="0">
              <a:buNone/>
            </a:pPr>
            <a:r>
              <a:rPr lang="en-US" sz="1000" b="1" dirty="0">
                <a:solidFill>
                  <a:schemeClr val="accent1"/>
                </a:solidFill>
                <a:latin typeface="Calibri" pitchFamily="34" charset="0"/>
                <a:ea typeface="Calibri" pitchFamily="34" charset="-122"/>
                <a:cs typeface="Calibri" pitchFamily="34" charset="-120"/>
              </a:rPr>
              <a:t>BASELINE · weeks 1–4</a:t>
            </a:r>
            <a:endParaRPr lang="en-US" sz="1000" dirty="0"/>
          </a:p>
        </p:txBody>
      </p:sp>
      <p:sp>
        <p:nvSpPr>
          <p:cNvPr id="8" name="Text 6"/>
          <p:cNvSpPr txBox="1"/>
          <p:nvPr/>
        </p:nvSpPr>
        <p:spPr>
          <a:xfrm>
            <a:off x="621792" y="1892808"/>
            <a:ext cx="2331720" cy="274320"/>
          </a:xfrm>
          <a:prstGeom prst="rect">
            <a:avLst/>
          </a:prstGeom>
          <a:noFill/>
          <a:ln/>
        </p:spPr>
        <p:txBody>
          <a:bodyPr wrap="square" lIns="0" tIns="0" rIns="0" bIns="0" rtlCol="0" anchor="ctr"/>
          <a:lstStyle/>
          <a:p>
            <a:pPr indent="0" marL="0">
              <a:buNone/>
            </a:pPr>
            <a:r>
              <a:rPr lang="en-US" sz="1250" b="1" dirty="0">
                <a:solidFill>
                  <a:schemeClr val="tx1"/>
                </a:solidFill>
                <a:latin typeface="Calibri" pitchFamily="34" charset="0"/>
                <a:ea typeface="Calibri" pitchFamily="34" charset="-122"/>
                <a:cs typeface="Calibri" pitchFamily="34" charset="-120"/>
              </a:rPr>
              <a:t>Does 11.4% hold today?</a:t>
            </a:r>
            <a:endParaRPr lang="en-US" sz="1250" dirty="0"/>
          </a:p>
        </p:txBody>
      </p:sp>
      <p:sp>
        <p:nvSpPr>
          <p:cNvPr id="9" name="Text 7"/>
          <p:cNvSpPr txBox="1"/>
          <p:nvPr/>
        </p:nvSpPr>
        <p:spPr>
          <a:xfrm>
            <a:off x="621792" y="2194560"/>
            <a:ext cx="2331720" cy="68580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Re-run on our own recent data, including readmissions to other hospitals (this dataset misses them)</a:t>
            </a:r>
            <a:endParaRPr lang="en-US" sz="1050" dirty="0"/>
          </a:p>
        </p:txBody>
      </p:sp>
      <p:sp>
        <p:nvSpPr>
          <p:cNvPr id="10" name="Shape 8"/>
          <p:cNvSpPr/>
          <p:nvPr/>
        </p:nvSpPr>
        <p:spPr>
          <a:xfrm>
            <a:off x="3264408" y="1325880"/>
            <a:ext cx="2615184" cy="1600200"/>
          </a:xfrm>
          <a:prstGeom prst="roundRect">
            <a:avLst>
              <a:gd name="adj" fmla="val 4571"/>
            </a:avLst>
          </a:prstGeom>
          <a:solidFill>
            <a:srgbClr val="EEF4F4"/>
          </a:solidFill>
          <a:ln w="12700">
            <a:solidFill>
              <a:srgbClr val="EEF4F4"/>
            </a:solidFill>
            <a:prstDash val="solid"/>
          </a:ln>
        </p:spPr>
      </p:sp>
      <p:sp>
        <p:nvSpPr>
          <p:cNvPr id="11" name="Shape 9"/>
          <p:cNvSpPr/>
          <p:nvPr/>
        </p:nvSpPr>
        <p:spPr>
          <a:xfrm>
            <a:off x="3401568" y="1444752"/>
            <a:ext cx="384048" cy="384048"/>
          </a:xfrm>
          <a:prstGeom prst="ellipse">
            <a:avLst/>
          </a:prstGeom>
          <a:solidFill>
            <a:srgbClr val="0E7C7B"/>
          </a:solidFill>
          <a:ln w="12700">
            <a:solidFill>
              <a:srgbClr val="0E7C7B"/>
            </a:solidFill>
            <a:prstDash val="solid"/>
          </a:ln>
        </p:spPr>
      </p:sp>
      <p:sp>
        <p:nvSpPr>
          <p:cNvPr id="12" name="Text 10"/>
          <p:cNvSpPr txBox="1"/>
          <p:nvPr/>
        </p:nvSpPr>
        <p:spPr>
          <a:xfrm>
            <a:off x="3401568" y="14447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886200" y="1463040"/>
            <a:ext cx="1920240" cy="329184"/>
          </a:xfrm>
          <a:prstGeom prst="rect">
            <a:avLst/>
          </a:prstGeom>
          <a:noFill/>
          <a:ln/>
        </p:spPr>
        <p:txBody>
          <a:bodyPr wrap="square" lIns="0" tIns="0" rIns="0" bIns="0" rtlCol="0" anchor="ctr"/>
          <a:lstStyle/>
          <a:p>
            <a:pPr indent="0" marL="0">
              <a:buNone/>
            </a:pPr>
            <a:r>
              <a:rPr lang="en-US" sz="1000" b="1" dirty="0">
                <a:solidFill>
                  <a:schemeClr val="accent1"/>
                </a:solidFill>
                <a:latin typeface="Calibri" pitchFamily="34" charset="0"/>
                <a:ea typeface="Calibri" pitchFamily="34" charset="-122"/>
                <a:cs typeface="Calibri" pitchFamily="34" charset="-120"/>
              </a:rPr>
              <a:t>ECONOMICS · weeks 1–4</a:t>
            </a:r>
            <a:endParaRPr lang="en-US" sz="1000" dirty="0"/>
          </a:p>
        </p:txBody>
      </p:sp>
      <p:sp>
        <p:nvSpPr>
          <p:cNvPr id="14" name="Text 12"/>
          <p:cNvSpPr txBox="1"/>
          <p:nvPr/>
        </p:nvSpPr>
        <p:spPr>
          <a:xfrm>
            <a:off x="3429000" y="1892808"/>
            <a:ext cx="2331720" cy="274320"/>
          </a:xfrm>
          <a:prstGeom prst="rect">
            <a:avLst/>
          </a:prstGeom>
          <a:noFill/>
          <a:ln/>
        </p:spPr>
        <p:txBody>
          <a:bodyPr wrap="square" lIns="0" tIns="0" rIns="0" bIns="0" rtlCol="0" anchor="ctr"/>
          <a:lstStyle/>
          <a:p>
            <a:pPr indent="0" marL="0">
              <a:buNone/>
            </a:pPr>
            <a:r>
              <a:rPr lang="en-US" sz="1250" b="1" dirty="0">
                <a:solidFill>
                  <a:schemeClr val="tx1"/>
                </a:solidFill>
                <a:latin typeface="Calibri" pitchFamily="34" charset="0"/>
                <a:ea typeface="Calibri" pitchFamily="34" charset="-122"/>
                <a:cs typeface="Calibri" pitchFamily="34" charset="-120"/>
              </a:rPr>
              <a:t>Do we keep the savings?</a:t>
            </a:r>
            <a:endParaRPr lang="en-US" sz="1250" dirty="0"/>
          </a:p>
        </p:txBody>
      </p:sp>
      <p:sp>
        <p:nvSpPr>
          <p:cNvPr id="15" name="Text 13"/>
          <p:cNvSpPr txBox="1"/>
          <p:nvPr/>
        </p:nvSpPr>
        <p:spPr>
          <a:xfrm>
            <a:off x="3429000" y="2194560"/>
            <a:ext cx="2331720" cy="68580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Finance confirms readmission and bundle cost, our contract mix, and why 39.7% of discharges lack a payer</a:t>
            </a:r>
            <a:endParaRPr lang="en-US" sz="1050" dirty="0"/>
          </a:p>
        </p:txBody>
      </p:sp>
      <p:sp>
        <p:nvSpPr>
          <p:cNvPr id="16" name="Shape 14"/>
          <p:cNvSpPr/>
          <p:nvPr/>
        </p:nvSpPr>
        <p:spPr>
          <a:xfrm>
            <a:off x="6071616" y="1325880"/>
            <a:ext cx="2615184" cy="1600200"/>
          </a:xfrm>
          <a:prstGeom prst="roundRect">
            <a:avLst>
              <a:gd name="adj" fmla="val 4571"/>
            </a:avLst>
          </a:prstGeom>
          <a:solidFill>
            <a:srgbClr val="EEF4F4"/>
          </a:solidFill>
          <a:ln w="12700">
            <a:solidFill>
              <a:srgbClr val="EEF4F4"/>
            </a:solidFill>
            <a:prstDash val="solid"/>
          </a:ln>
        </p:spPr>
      </p:sp>
      <p:sp>
        <p:nvSpPr>
          <p:cNvPr id="17" name="Shape 15"/>
          <p:cNvSpPr/>
          <p:nvPr/>
        </p:nvSpPr>
        <p:spPr>
          <a:xfrm>
            <a:off x="6208776" y="1444752"/>
            <a:ext cx="384048" cy="384048"/>
          </a:xfrm>
          <a:prstGeom prst="ellipse">
            <a:avLst/>
          </a:prstGeom>
          <a:solidFill>
            <a:srgbClr val="0E7C7B"/>
          </a:solidFill>
          <a:ln w="12700">
            <a:solidFill>
              <a:srgbClr val="0E7C7B"/>
            </a:solidFill>
            <a:prstDash val="solid"/>
          </a:ln>
        </p:spPr>
      </p:sp>
      <p:sp>
        <p:nvSpPr>
          <p:cNvPr id="18" name="Text 16"/>
          <p:cNvSpPr txBox="1"/>
          <p:nvPr/>
        </p:nvSpPr>
        <p:spPr>
          <a:xfrm>
            <a:off x="6208776" y="14447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6693408" y="1463040"/>
            <a:ext cx="1920240" cy="329184"/>
          </a:xfrm>
          <a:prstGeom prst="rect">
            <a:avLst/>
          </a:prstGeom>
          <a:noFill/>
          <a:ln/>
        </p:spPr>
        <p:txBody>
          <a:bodyPr wrap="square" lIns="0" tIns="0" rIns="0" bIns="0" rtlCol="0" anchor="ctr"/>
          <a:lstStyle/>
          <a:p>
            <a:pPr indent="0" marL="0">
              <a:buNone/>
            </a:pPr>
            <a:r>
              <a:rPr lang="en-US" sz="1000" b="1" dirty="0">
                <a:solidFill>
                  <a:schemeClr val="accent1"/>
                </a:solidFill>
                <a:latin typeface="Calibri" pitchFamily="34" charset="0"/>
                <a:ea typeface="Calibri" pitchFamily="34" charset="-122"/>
                <a:cs typeface="Calibri" pitchFamily="34" charset="-120"/>
              </a:rPr>
              <a:t>IMPACT · weeks 5–13</a:t>
            </a:r>
            <a:endParaRPr lang="en-US" sz="1000" dirty="0"/>
          </a:p>
        </p:txBody>
      </p:sp>
      <p:sp>
        <p:nvSpPr>
          <p:cNvPr id="20" name="Text 18"/>
          <p:cNvSpPr txBox="1"/>
          <p:nvPr/>
        </p:nvSpPr>
        <p:spPr>
          <a:xfrm>
            <a:off x="6236208" y="1892808"/>
            <a:ext cx="2331720" cy="274320"/>
          </a:xfrm>
          <a:prstGeom prst="rect">
            <a:avLst/>
          </a:prstGeom>
          <a:noFill/>
          <a:ln/>
        </p:spPr>
        <p:txBody>
          <a:bodyPr wrap="square" lIns="0" tIns="0" rIns="0" bIns="0" rtlCol="0" anchor="ctr"/>
          <a:lstStyle/>
          <a:p>
            <a:pPr indent="0" marL="0">
              <a:buNone/>
            </a:pPr>
            <a:r>
              <a:rPr lang="en-US" sz="1250" b="1" dirty="0">
                <a:solidFill>
                  <a:schemeClr val="tx1"/>
                </a:solidFill>
                <a:latin typeface="Calibri" pitchFamily="34" charset="0"/>
                <a:ea typeface="Calibri" pitchFamily="34" charset="-122"/>
                <a:cs typeface="Calibri" pitchFamily="34" charset="-120"/>
              </a:rPr>
              <a:t>Does the bundle cut ≥14%?</a:t>
            </a:r>
            <a:endParaRPr lang="en-US" sz="1250" dirty="0"/>
          </a:p>
        </p:txBody>
      </p:sp>
      <p:sp>
        <p:nvSpPr>
          <p:cNvPr id="21" name="Text 19"/>
          <p:cNvSpPr txBox="1"/>
          <p:nvPr/>
        </p:nvSpPr>
        <p:spPr>
          <a:xfrm>
            <a:off x="6236208" y="2194560"/>
            <a:ext cx="2331720" cy="68580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Pilot vs matched comparison group; track readmissions and staff workload</a:t>
            </a:r>
            <a:endParaRPr lang="en-US" sz="1050" dirty="0"/>
          </a:p>
        </p:txBody>
      </p:sp>
      <p:sp>
        <p:nvSpPr>
          <p:cNvPr id="22" name="Text 20"/>
          <p:cNvSpPr txBox="1"/>
          <p:nvPr/>
        </p:nvSpPr>
        <p:spPr>
          <a:xfrm>
            <a:off x="457200" y="3063240"/>
            <a:ext cx="2743200" cy="228600"/>
          </a:xfrm>
          <a:prstGeom prst="rect">
            <a:avLst/>
          </a:prstGeom>
          <a:noFill/>
          <a:ln/>
        </p:spPr>
        <p:txBody>
          <a:bodyPr wrap="square" lIns="0" tIns="0" rIns="0" bIns="0" rtlCol="0" anchor="ctr"/>
          <a:lstStyle/>
          <a:p>
            <a:pPr indent="0" marL="0">
              <a:buNone/>
            </a:pPr>
            <a:r>
              <a:rPr lang="en-US" sz="1050" b="1" dirty="0">
                <a:solidFill>
                  <a:schemeClr val="accent5"/>
                </a:solidFill>
                <a:latin typeface="Calibri" pitchFamily="34" charset="0"/>
                <a:ea typeface="Calibri" pitchFamily="34" charset="-122"/>
                <a:cs typeface="Calibri" pitchFamily="34" charset="-120"/>
              </a:rPr>
              <a:t>CLAIM LEDGER</a:t>
            </a:r>
            <a:endParaRPr lang="en-US" sz="1050" dirty="0"/>
          </a:p>
        </p:txBody>
      </p:sp>
      <p:sp>
        <p:nvSpPr>
          <p:cNvPr id="23" name="Text 21"/>
          <p:cNvSpPr txBox="1"/>
          <p:nvPr/>
        </p:nvSpPr>
        <p:spPr>
          <a:xfrm>
            <a:off x="457200" y="3310128"/>
            <a:ext cx="2615184" cy="22860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FACT</a:t>
            </a:r>
            <a:endParaRPr lang="en-US" sz="1100" dirty="0"/>
          </a:p>
        </p:txBody>
      </p:sp>
      <p:sp>
        <p:nvSpPr>
          <p:cNvPr id="24" name="Text 22"/>
          <p:cNvSpPr txBox="1"/>
          <p:nvPr/>
        </p:nvSpPr>
        <p:spPr>
          <a:xfrm>
            <a:off x="457200" y="3538728"/>
            <a:ext cx="2615184" cy="41148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11.4% baseline; flagged group 18.7%; ML +2.8 pts</a:t>
            </a:r>
            <a:endParaRPr lang="en-US" sz="1050" dirty="0"/>
          </a:p>
        </p:txBody>
      </p:sp>
      <p:sp>
        <p:nvSpPr>
          <p:cNvPr id="25" name="Text 23"/>
          <p:cNvSpPr txBox="1"/>
          <p:nvPr/>
        </p:nvSpPr>
        <p:spPr>
          <a:xfrm>
            <a:off x="3264408" y="3310128"/>
            <a:ext cx="2615184" cy="228600"/>
          </a:xfrm>
          <a:prstGeom prst="rect">
            <a:avLst/>
          </a:prstGeom>
          <a:noFill/>
          <a:ln/>
        </p:spPr>
        <p:txBody>
          <a:bodyPr wrap="square" lIns="0" tIns="0" rIns="0" bIns="0" rtlCol="0" anchor="ctr"/>
          <a:lstStyle/>
          <a:p>
            <a:pPr indent="0" marL="0">
              <a:buNone/>
            </a:pPr>
            <a:r>
              <a:rPr lang="en-US" sz="1100" b="1" dirty="0">
                <a:solidFill>
                  <a:srgbClr val="A86A12"/>
                </a:solidFill>
                <a:latin typeface="Calibri" pitchFamily="34" charset="0"/>
                <a:ea typeface="Calibri" pitchFamily="34" charset="-122"/>
                <a:cs typeface="Calibri" pitchFamily="34" charset="-120"/>
              </a:rPr>
              <a:t>ASSUMPTION</a:t>
            </a:r>
            <a:endParaRPr lang="en-US" sz="1100" dirty="0"/>
          </a:p>
        </p:txBody>
      </p:sp>
      <p:sp>
        <p:nvSpPr>
          <p:cNvPr id="26" name="Text 24"/>
          <p:cNvSpPr txBox="1"/>
          <p:nvPr/>
        </p:nvSpPr>
        <p:spPr>
          <a:xfrm>
            <a:off x="3264408" y="3538728"/>
            <a:ext cx="2615184" cy="41148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$15,200 per readmit; $400 bundle; we capture value</a:t>
            </a:r>
            <a:endParaRPr lang="en-US" sz="1050" dirty="0"/>
          </a:p>
        </p:txBody>
      </p:sp>
      <p:sp>
        <p:nvSpPr>
          <p:cNvPr id="27" name="Text 25"/>
          <p:cNvSpPr txBox="1"/>
          <p:nvPr/>
        </p:nvSpPr>
        <p:spPr>
          <a:xfrm>
            <a:off x="6071616" y="3310128"/>
            <a:ext cx="2615184" cy="228600"/>
          </a:xfrm>
          <a:prstGeom prst="rect">
            <a:avLst/>
          </a:prstGeom>
          <a:noFill/>
          <a:ln/>
        </p:spPr>
        <p:txBody>
          <a:bodyPr wrap="square" lIns="0" tIns="0" rIns="0" bIns="0" rtlCol="0" anchor="ctr"/>
          <a:lstStyle/>
          <a:p>
            <a:pPr indent="0" marL="0">
              <a:buNone/>
            </a:pPr>
            <a:r>
              <a:rPr lang="en-US" sz="1100" b="1" dirty="0">
                <a:solidFill>
                  <a:srgbClr val="D2492A"/>
                </a:solidFill>
                <a:latin typeface="Calibri" pitchFamily="34" charset="0"/>
                <a:ea typeface="Calibri" pitchFamily="34" charset="-122"/>
                <a:cs typeface="Calibri" pitchFamily="34" charset="-120"/>
              </a:rPr>
              <a:t>HYPOTHESIS</a:t>
            </a:r>
            <a:endParaRPr lang="en-US" sz="1100" dirty="0"/>
          </a:p>
        </p:txBody>
      </p:sp>
      <p:sp>
        <p:nvSpPr>
          <p:cNvPr id="28" name="Text 26"/>
          <p:cNvSpPr txBox="1"/>
          <p:nvPr/>
        </p:nvSpPr>
        <p:spPr>
          <a:xfrm>
            <a:off x="6071616" y="3538728"/>
            <a:ext cx="2615184" cy="41148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Bundle cuts readmits ≥14%; blank payer field (39.7%) means claim-denial risk</a:t>
            </a:r>
            <a:endParaRPr lang="en-US" sz="1050" dirty="0"/>
          </a:p>
        </p:txBody>
      </p:sp>
      <p:sp>
        <p:nvSpPr>
          <p:cNvPr id="29" name="Shape 27"/>
          <p:cNvSpPr/>
          <p:nvPr/>
        </p:nvSpPr>
        <p:spPr>
          <a:xfrm>
            <a:off x="457200" y="4069080"/>
            <a:ext cx="8229600" cy="612648"/>
          </a:xfrm>
          <a:prstGeom prst="roundRect">
            <a:avLst>
              <a:gd name="adj" fmla="val 11940"/>
            </a:avLst>
          </a:prstGeom>
          <a:solidFill>
            <a:srgbClr val="0E4D57"/>
          </a:solidFill>
          <a:ln w="12700">
            <a:solidFill>
              <a:srgbClr val="0E4D57"/>
            </a:solidFill>
            <a:prstDash val="solid"/>
          </a:ln>
        </p:spPr>
      </p:sp>
      <p:sp>
        <p:nvSpPr>
          <p:cNvPr id="30" name="Text 28"/>
          <p:cNvSpPr txBox="1"/>
          <p:nvPr/>
        </p:nvSpPr>
        <p:spPr>
          <a:xfrm>
            <a:off x="640080" y="4069080"/>
            <a:ext cx="7863840" cy="612648"/>
          </a:xfrm>
          <a:prstGeom prst="rect">
            <a:avLst/>
          </a:prstGeom>
          <a:noFill/>
          <a:ln/>
        </p:spPr>
        <p:txBody>
          <a:bodyPr wrap="square" lIns="0" tIns="0" rIns="0" bIns="0" rtlCol="0" anchor="ctr"/>
          <a:lstStyle/>
          <a:p>
            <a:pPr indent="0" marL="0">
              <a:buNone/>
            </a:pPr>
            <a:r>
              <a:rPr lang="en-US" sz="1250" b="1" dirty="0">
                <a:solidFill>
                  <a:schemeClr val="bg1"/>
                </a:solidFill>
                <a:latin typeface="Calibri" pitchFamily="34" charset="0"/>
                <a:ea typeface="Calibri" pitchFamily="34" charset="-122"/>
                <a:cs typeface="Calibri" pitchFamily="34" charset="-120"/>
              </a:rPr>
              <a:t>Decision gate: </a:t>
            </a:r>
            <a:pPr indent="0" marL="0">
              <a:buNone/>
            </a:pPr>
            <a:r>
              <a:rPr lang="en-US" sz="1250" dirty="0">
                <a:solidFill>
                  <a:schemeClr val="bg1"/>
                </a:solidFill>
                <a:latin typeface="Calibri" pitchFamily="34" charset="0"/>
                <a:ea typeface="Calibri" pitchFamily="34" charset="-122"/>
                <a:cs typeface="Calibri" pitchFamily="34" charset="-120"/>
              </a:rPr>
              <a:t>≥14% cut and we capture the value → scale the rule, then test ML. Otherwise stop, having spent little.</a:t>
            </a:r>
            <a:endParaRPr lang="en-US" sz="12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Readmission">
  <a:themeElements>
    <a:clrScheme name="Readmission">
      <a:dk1>
        <a:srgbClr val="1B2A33"/>
      </a:dk1>
      <a:lt1>
        <a:srgbClr val="FFFFFF"/>
      </a:lt1>
      <a:dk2>
        <a:srgbClr val="0E4D57"/>
      </a:dk2>
      <a:lt2>
        <a:srgbClr val="EEF4F4"/>
      </a:lt2>
      <a:accent1>
        <a:srgbClr val="0E7C7B"/>
      </a:accent1>
      <a:accent2>
        <a:srgbClr val="D2492A"/>
      </a:accent2>
      <a:accent3>
        <a:srgbClr val="8AB8B5"/>
      </a:accent3>
      <a:accent4>
        <a:srgbClr val="A86A12"/>
      </a:accent4>
      <a:accent5>
        <a:srgbClr val="5B6770"/>
      </a:accent5>
      <a:accent6>
        <a:srgbClr val="C9DCDB"/>
      </a:accent6>
      <a:hlink>
        <a:srgbClr val="0E7C7B"/>
      </a:hlink>
      <a:folHlink>
        <a:srgbClr val="5B6770"/>
      </a:folHlink>
    </a:clrScheme>
    <a:fontScheme name="Readmis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Diabetic 30-day readmissions v2</dc:title>
  <dc:subject>PptxGenJS Presentation</dc:subject>
  <dc:creator>Shripathi Raman Radhakrishnan</dc:creator>
  <cp:lastModifiedBy>Shripathi Raman Radhakrishnan</cp:lastModifiedBy>
  <cp:revision>1</cp:revision>
  <dcterms:created xsi:type="dcterms:W3CDTF">2026-10-08T07:48:38Z</dcterms:created>
  <dcterms:modified xsi:type="dcterms:W3CDTF">2026-10-08T07:48:38Z</dcterms:modified>
</cp:coreProperties>
</file>